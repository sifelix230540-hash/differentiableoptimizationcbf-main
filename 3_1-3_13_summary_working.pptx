
<file path=[Content_Types].xml><?xml version="1.0" encoding="utf-8"?>
<Types xmlns="http://schemas.openxmlformats.org/package/2006/content-types">
  <Default Extension="bin" ContentType="application/vnd.openxmlformats-officedocument.oleObject"/>
  <Default Extension="mp4" ContentType="video/mp4"/>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1" r:id="rId2"/>
    <p:sldId id="267" r:id="rId3"/>
    <p:sldId id="269" r:id="rId4"/>
    <p:sldId id="266" r:id="rId5"/>
    <p:sldId id="262" r:id="rId6"/>
    <p:sldId id="265" r:id="rId7"/>
    <p:sldId id="264" r:id="rId8"/>
    <p:sldId id="268" r:id="rId9"/>
    <p:sldId id="263" r:id="rId1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9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90BF60-4E2A-4003-85A8-EFD2239DC911}" v="9" dt="2026-03-12T06:53:59.6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85" d="100"/>
          <a:sy n="85" d="100"/>
        </p:scale>
        <p:origin x="420" y="56"/>
      </p:cViewPr>
      <p:guideLst>
        <p:guide orient="horz" pos="2160"/>
        <p:guide pos="2916"/>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涵 何" userId="66d0efab8830b63e" providerId="LiveId" clId="{90899FFD-5DE4-4050-A2F5-F96B49BBDA43}"/>
    <pc:docChg chg="custSel addSld modSld">
      <pc:chgData name="涵 何" userId="66d0efab8830b63e" providerId="LiveId" clId="{90899FFD-5DE4-4050-A2F5-F96B49BBDA43}" dt="2026-03-12T06:56:15.020" v="1550" actId="20577"/>
      <pc:docMkLst>
        <pc:docMk/>
      </pc:docMkLst>
      <pc:sldChg chg="modSp mod">
        <pc:chgData name="涵 何" userId="66d0efab8830b63e" providerId="LiveId" clId="{90899FFD-5DE4-4050-A2F5-F96B49BBDA43}" dt="2026-03-12T06:08:18.249" v="4" actId="14100"/>
        <pc:sldMkLst>
          <pc:docMk/>
          <pc:sldMk cId="0" sldId="265"/>
        </pc:sldMkLst>
        <pc:picChg chg="mod">
          <ac:chgData name="涵 何" userId="66d0efab8830b63e" providerId="LiveId" clId="{90899FFD-5DE4-4050-A2F5-F96B49BBDA43}" dt="2026-03-12T06:08:18.249" v="4" actId="14100"/>
          <ac:picMkLst>
            <pc:docMk/>
            <pc:sldMk cId="0" sldId="265"/>
            <ac:picMk id="12" creationId="{00000000-0000-0000-0000-000000000000}"/>
          </ac:picMkLst>
        </pc:picChg>
      </pc:sldChg>
      <pc:sldChg chg="addSp delSp modSp add mod">
        <pc:chgData name="涵 何" userId="66d0efab8830b63e" providerId="LiveId" clId="{90899FFD-5DE4-4050-A2F5-F96B49BBDA43}" dt="2026-03-12T06:56:15.020" v="1550" actId="20577"/>
        <pc:sldMkLst>
          <pc:docMk/>
          <pc:sldMk cId="4276725026" sldId="269"/>
        </pc:sldMkLst>
        <pc:spChg chg="add del mod">
          <ac:chgData name="涵 何" userId="66d0efab8830b63e" providerId="LiveId" clId="{90899FFD-5DE4-4050-A2F5-F96B49BBDA43}" dt="2026-03-12T06:23:20.241" v="33"/>
          <ac:spMkLst>
            <pc:docMk/>
            <pc:sldMk cId="4276725026" sldId="269"/>
            <ac:spMk id="2" creationId="{6B3D37CC-6615-1414-FA75-992FF83B9C22}"/>
          </ac:spMkLst>
        </pc:spChg>
        <pc:spChg chg="add mod">
          <ac:chgData name="涵 何" userId="66d0efab8830b63e" providerId="LiveId" clId="{90899FFD-5DE4-4050-A2F5-F96B49BBDA43}" dt="2026-03-12T06:27:17.669" v="181" actId="1076"/>
          <ac:spMkLst>
            <pc:docMk/>
            <pc:sldMk cId="4276725026" sldId="269"/>
            <ac:spMk id="3" creationId="{2EFCBC94-CA06-E9C1-3B7F-B1E2977BB0E9}"/>
          </ac:spMkLst>
        </pc:spChg>
        <pc:spChg chg="mod">
          <ac:chgData name="涵 何" userId="66d0efab8830b63e" providerId="LiveId" clId="{90899FFD-5DE4-4050-A2F5-F96B49BBDA43}" dt="2026-03-12T06:16:39.182" v="30" actId="14100"/>
          <ac:spMkLst>
            <pc:docMk/>
            <pc:sldMk cId="4276725026" sldId="269"/>
            <ac:spMk id="4" creationId="{07A3C2BF-F8D7-DC6D-8B7A-E3D68160BE91}"/>
          </ac:spMkLst>
        </pc:spChg>
        <pc:spChg chg="add mod">
          <ac:chgData name="涵 何" userId="66d0efab8830b63e" providerId="LiveId" clId="{90899FFD-5DE4-4050-A2F5-F96B49BBDA43}" dt="2026-03-12T06:46:49.825" v="1090" actId="20577"/>
          <ac:spMkLst>
            <pc:docMk/>
            <pc:sldMk cId="4276725026" sldId="269"/>
            <ac:spMk id="7" creationId="{0611BEBD-BB1E-0436-D333-BA7FF06DF9E0}"/>
          </ac:spMkLst>
        </pc:spChg>
        <pc:spChg chg="add mod">
          <ac:chgData name="涵 何" userId="66d0efab8830b63e" providerId="LiveId" clId="{90899FFD-5DE4-4050-A2F5-F96B49BBDA43}" dt="2026-03-12T06:50:52.814" v="1367" actId="1076"/>
          <ac:spMkLst>
            <pc:docMk/>
            <pc:sldMk cId="4276725026" sldId="269"/>
            <ac:spMk id="8" creationId="{054BA966-46B8-09A4-906D-DA8BF180294A}"/>
          </ac:spMkLst>
        </pc:spChg>
        <pc:spChg chg="del">
          <ac:chgData name="涵 何" userId="66d0efab8830b63e" providerId="LiveId" clId="{90899FFD-5DE4-4050-A2F5-F96B49BBDA43}" dt="2026-03-12T06:16:28.645" v="6" actId="478"/>
          <ac:spMkLst>
            <pc:docMk/>
            <pc:sldMk cId="4276725026" sldId="269"/>
            <ac:spMk id="10" creationId="{DEBD695D-C5C8-BF40-EA12-8A5311AD4638}"/>
          </ac:spMkLst>
        </pc:spChg>
        <pc:spChg chg="add del mod">
          <ac:chgData name="涵 何" userId="66d0efab8830b63e" providerId="LiveId" clId="{90899FFD-5DE4-4050-A2F5-F96B49BBDA43}" dt="2026-03-12T06:46:52.723" v="1092"/>
          <ac:spMkLst>
            <pc:docMk/>
            <pc:sldMk cId="4276725026" sldId="269"/>
            <ac:spMk id="11" creationId="{523C7305-F3CA-B8C0-9558-80EDEC5514BA}"/>
          </ac:spMkLst>
        </pc:spChg>
        <pc:spChg chg="add mod">
          <ac:chgData name="涵 何" userId="66d0efab8830b63e" providerId="LiveId" clId="{90899FFD-5DE4-4050-A2F5-F96B49BBDA43}" dt="2026-03-12T06:51:28.315" v="1393" actId="1076"/>
          <ac:spMkLst>
            <pc:docMk/>
            <pc:sldMk cId="4276725026" sldId="269"/>
            <ac:spMk id="12" creationId="{120A9550-58BB-01F3-6F58-C56E318E9654}"/>
          </ac:spMkLst>
        </pc:spChg>
        <pc:spChg chg="add del mod">
          <ac:chgData name="涵 何" userId="66d0efab8830b63e" providerId="LiveId" clId="{90899FFD-5DE4-4050-A2F5-F96B49BBDA43}" dt="2026-03-12T06:53:25.657" v="1443" actId="478"/>
          <ac:spMkLst>
            <pc:docMk/>
            <pc:sldMk cId="4276725026" sldId="269"/>
            <ac:spMk id="13" creationId="{6EFB24B4-8E21-8BD7-FEE8-6A2D5A4F52B9}"/>
          </ac:spMkLst>
        </pc:spChg>
        <pc:spChg chg="add mod">
          <ac:chgData name="涵 何" userId="66d0efab8830b63e" providerId="LiveId" clId="{90899FFD-5DE4-4050-A2F5-F96B49BBDA43}" dt="2026-03-12T06:56:15.020" v="1550" actId="20577"/>
          <ac:spMkLst>
            <pc:docMk/>
            <pc:sldMk cId="4276725026" sldId="269"/>
            <ac:spMk id="14" creationId="{8EFCF28A-2401-B31B-D442-A6BE3954A49B}"/>
          </ac:spMkLst>
        </pc:sp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1.xml"/><Relationship Id="rId4" Type="http://schemas.openxmlformats.org/officeDocument/2006/relationships/tags" Target="../tags/tag39.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1.xml"/><Relationship Id="rId5" Type="http://schemas.openxmlformats.org/officeDocument/2006/relationships/tags" Target="../tags/tag53.xml"/><Relationship Id="rId4" Type="http://schemas.openxmlformats.org/officeDocument/2006/relationships/tags" Target="../tags/tag5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1.xml"/><Relationship Id="rId4" Type="http://schemas.openxmlformats.org/officeDocument/2006/relationships/tags" Target="../tags/tag57.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1.xml"/><Relationship Id="rId5" Type="http://schemas.openxmlformats.org/officeDocument/2006/relationships/tags" Target="../tags/tag62.xml"/><Relationship Id="rId4" Type="http://schemas.openxmlformats.org/officeDocument/2006/relationships/tags" Target="../tags/tag6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899100" y="914400"/>
            <a:ext cx="73494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899100" y="3560400"/>
            <a:ext cx="73494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2026/3/12</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56300" y="608400"/>
            <a:ext cx="82269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456300" y="1490400"/>
            <a:ext cx="82269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2026/3/12</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493100" y="3848400"/>
            <a:ext cx="58266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493100" y="4615200"/>
            <a:ext cx="58266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2026/3/12</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56300" y="608400"/>
            <a:ext cx="82269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456300" y="1501200"/>
            <a:ext cx="38826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4808700" y="1501200"/>
            <a:ext cx="38826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2026/3/12</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56300" y="608400"/>
            <a:ext cx="82269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456300" y="1429200"/>
            <a:ext cx="40068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456300" y="1854000"/>
            <a:ext cx="40068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4676813" y="1421729"/>
            <a:ext cx="40068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4676813" y="1854000"/>
            <a:ext cx="40068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2026/3/12</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56300" y="608400"/>
            <a:ext cx="82269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2026/3/12</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2026/3/12</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456300" y="1555200"/>
            <a:ext cx="3924808"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4762800" y="1555200"/>
            <a:ext cx="39204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2026/3/12</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7676100" y="914400"/>
            <a:ext cx="783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685800" y="914400"/>
            <a:ext cx="68769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2026/3/12</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2026/3/12</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456300" y="774000"/>
            <a:ext cx="82296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2026/3/12</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899100" y="2484000"/>
            <a:ext cx="73494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899100" y="3560400"/>
            <a:ext cx="73494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456300" y="608400"/>
            <a:ext cx="82269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456300" y="1490400"/>
            <a:ext cx="82269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459000" y="6314400"/>
            <a:ext cx="2025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2026/3/12</a:t>
            </a:fld>
            <a:endParaRPr lang="zh-CN" altLang="en-US"/>
          </a:p>
        </p:txBody>
      </p:sp>
      <p:sp>
        <p:nvSpPr>
          <p:cNvPr id="5" name="页脚占位符 4"/>
          <p:cNvSpPr>
            <a:spLocks noGrp="1"/>
          </p:cNvSpPr>
          <p:nvPr>
            <p:ph type="ftr" sz="quarter" idx="3"/>
            <p:custDataLst>
              <p:tags r:id="rId17"/>
            </p:custDataLst>
          </p:nvPr>
        </p:nvSpPr>
        <p:spPr>
          <a:xfrm>
            <a:off x="3087000" y="6314400"/>
            <a:ext cx="297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6658200" y="6314400"/>
            <a:ext cx="2025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5.xml"/><Relationship Id="rId1" Type="http://schemas.openxmlformats.org/officeDocument/2006/relationships/tags" Target="../tags/tag64.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tags" Target="../tags/tag66.xml"/><Relationship Id="rId4" Type="http://schemas.openxmlformats.org/officeDocument/2006/relationships/image" Target="../media/image1.w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tags" Target="../tags/tag67.xml"/><Relationship Id="rId4" Type="http://schemas.openxmlformats.org/officeDocument/2006/relationships/image" Target="../media/image1.wmf"/></Relationships>
</file>

<file path=ppt/slides/_rels/slide5.xml.rels><?xml version="1.0" encoding="UTF-8" standalone="yes"?>
<Relationships xmlns="http://schemas.openxmlformats.org/package/2006/relationships"><Relationship Id="rId8" Type="http://schemas.openxmlformats.org/officeDocument/2006/relationships/image" Target="../media/image4.wmf"/><Relationship Id="rId3" Type="http://schemas.openxmlformats.org/officeDocument/2006/relationships/image" Target="../media/image2.png"/><Relationship Id="rId7" Type="http://schemas.openxmlformats.org/officeDocument/2006/relationships/oleObject" Target="../embeddings/oleObject3.bin"/><Relationship Id="rId2" Type="http://schemas.openxmlformats.org/officeDocument/2006/relationships/slideLayout" Target="../slideLayouts/slideLayout1.xml"/><Relationship Id="rId1" Type="http://schemas.openxmlformats.org/officeDocument/2006/relationships/tags" Target="../tags/tag68.xml"/><Relationship Id="rId6" Type="http://schemas.openxmlformats.org/officeDocument/2006/relationships/image" Target="../media/image3.png"/><Relationship Id="rId5" Type="http://schemas.openxmlformats.org/officeDocument/2006/relationships/image" Target="../media/image1.wmf"/><Relationship Id="rId4" Type="http://schemas.openxmlformats.org/officeDocument/2006/relationships/oleObject" Target="../embeddings/oleObject2.bin"/><Relationship Id="rId9"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video" Target="../media/media1.mp4"/><Relationship Id="rId2" Type="http://schemas.microsoft.com/office/2007/relationships/media" Target="../media/media1.mp4"/><Relationship Id="rId1" Type="http://schemas.openxmlformats.org/officeDocument/2006/relationships/tags" Target="../tags/tag69.xml"/><Relationship Id="rId5" Type="http://schemas.openxmlformats.org/officeDocument/2006/relationships/image" Target="../media/image6.png"/><Relationship Id="rId4"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1.xml"/><Relationship Id="rId1" Type="http://schemas.openxmlformats.org/officeDocument/2006/relationships/tags" Target="../tags/tag70.xml"/></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video" Target="../media/media2.mp4"/><Relationship Id="rId7" Type="http://schemas.openxmlformats.org/officeDocument/2006/relationships/image" Target="../media/image8.png"/><Relationship Id="rId2" Type="http://schemas.microsoft.com/office/2007/relationships/media" Target="../media/media2.mp4"/><Relationship Id="rId1" Type="http://schemas.openxmlformats.org/officeDocument/2006/relationships/tags" Target="../tags/tag71.xml"/><Relationship Id="rId6" Type="http://schemas.openxmlformats.org/officeDocument/2006/relationships/slideLayout" Target="../slideLayouts/slideLayout1.xml"/><Relationship Id="rId5" Type="http://schemas.openxmlformats.org/officeDocument/2006/relationships/video" Target="../media/media3.mp4"/><Relationship Id="rId4" Type="http://schemas.microsoft.com/office/2007/relationships/media" Target="../media/media3.mp4"/></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9144000" cy="508159"/>
          </a:xfrm>
          <a:prstGeom prst="rect">
            <a:avLst/>
          </a:prstGeom>
          <a:solidFill>
            <a:schemeClr val="accent1">
              <a:lumMod val="75000"/>
            </a:schemeClr>
          </a:solidFill>
          <a:ln>
            <a:noFill/>
          </a:ln>
          <a:effectLst>
            <a:softEdge rad="127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6" name="文本框 5"/>
          <p:cNvSpPr txBox="1"/>
          <p:nvPr/>
        </p:nvSpPr>
        <p:spPr>
          <a:xfrm>
            <a:off x="139224" y="47149"/>
            <a:ext cx="1272064" cy="414020"/>
          </a:xfrm>
          <a:prstGeom prst="rect">
            <a:avLst/>
          </a:prstGeom>
          <a:noFill/>
        </p:spPr>
        <p:txBody>
          <a:bodyPr wrap="square" rtlCol="0">
            <a:spAutoFit/>
          </a:bodyPr>
          <a:lstStyle/>
          <a:p>
            <a:r>
              <a:rPr lang="zh-CN" altLang="en-US" sz="2100" b="1">
                <a:solidFill>
                  <a:schemeClr val="bg1"/>
                </a:solidFill>
              </a:rPr>
              <a:t>方案构思</a:t>
            </a:r>
          </a:p>
        </p:txBody>
      </p:sp>
      <p:sp>
        <p:nvSpPr>
          <p:cNvPr id="7" name="矩形 6"/>
          <p:cNvSpPr/>
          <p:nvPr/>
        </p:nvSpPr>
        <p:spPr>
          <a:xfrm>
            <a:off x="556419" y="551815"/>
            <a:ext cx="8031004" cy="552450"/>
          </a:xfrm>
          <a:prstGeom prst="rect">
            <a:avLst/>
          </a:prstGeom>
          <a:solidFill>
            <a:schemeClr val="accent1">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100"/>
              <a:t>中组立自动化焊接与检测</a:t>
            </a:r>
          </a:p>
        </p:txBody>
      </p:sp>
      <p:sp>
        <p:nvSpPr>
          <p:cNvPr id="8" name="矩形 7"/>
          <p:cNvSpPr/>
          <p:nvPr/>
        </p:nvSpPr>
        <p:spPr>
          <a:xfrm>
            <a:off x="556419" y="1190943"/>
            <a:ext cx="1628299" cy="44577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350" b="1">
                <a:solidFill>
                  <a:srgbClr val="FFFF00"/>
                </a:solidFill>
              </a:rPr>
              <a:t>焊缝识别与</a:t>
            </a:r>
            <a:r>
              <a:rPr lang="zh-CN" altLang="en-US" sz="1350" b="1">
                <a:solidFill>
                  <a:srgbClr val="FFFF00"/>
                </a:solidFill>
                <a:sym typeface="+mn-ea"/>
              </a:rPr>
              <a:t>定位</a:t>
            </a:r>
          </a:p>
        </p:txBody>
      </p:sp>
      <p:sp>
        <p:nvSpPr>
          <p:cNvPr id="9" name="矩形 8"/>
          <p:cNvSpPr/>
          <p:nvPr/>
        </p:nvSpPr>
        <p:spPr>
          <a:xfrm>
            <a:off x="2584133" y="1190943"/>
            <a:ext cx="1628299" cy="44577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350" b="1">
                <a:solidFill>
                  <a:srgbClr val="FFFF00"/>
                </a:solidFill>
                <a:sym typeface="+mn-ea"/>
              </a:rPr>
              <a:t>焊接工艺规划</a:t>
            </a:r>
          </a:p>
        </p:txBody>
      </p:sp>
      <p:sp>
        <p:nvSpPr>
          <p:cNvPr id="10" name="矩形 9"/>
          <p:cNvSpPr/>
          <p:nvPr/>
        </p:nvSpPr>
        <p:spPr>
          <a:xfrm>
            <a:off x="4761071" y="1190943"/>
            <a:ext cx="1628299" cy="44577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350" b="1">
                <a:solidFill>
                  <a:srgbClr val="FFFF00"/>
                </a:solidFill>
                <a:sym typeface="+mn-ea"/>
              </a:rPr>
              <a:t>机械臂轨迹规划</a:t>
            </a:r>
          </a:p>
        </p:txBody>
      </p:sp>
      <p:sp>
        <p:nvSpPr>
          <p:cNvPr id="11" name="矩形 10"/>
          <p:cNvSpPr/>
          <p:nvPr/>
        </p:nvSpPr>
        <p:spPr>
          <a:xfrm>
            <a:off x="6900069" y="1190943"/>
            <a:ext cx="1628299" cy="44577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350" b="1">
                <a:solidFill>
                  <a:srgbClr val="FFFF00"/>
                </a:solidFill>
                <a:sym typeface="+mn-ea"/>
              </a:rPr>
              <a:t>焊缝质量检测</a:t>
            </a:r>
          </a:p>
        </p:txBody>
      </p:sp>
      <p:sp>
        <p:nvSpPr>
          <p:cNvPr id="12" name="右箭头 11"/>
          <p:cNvSpPr/>
          <p:nvPr/>
        </p:nvSpPr>
        <p:spPr>
          <a:xfrm>
            <a:off x="2261235" y="1345248"/>
            <a:ext cx="280035" cy="13716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13" name="右箭头 12"/>
          <p:cNvSpPr/>
          <p:nvPr/>
        </p:nvSpPr>
        <p:spPr>
          <a:xfrm>
            <a:off x="4346734" y="1345248"/>
            <a:ext cx="280035" cy="13716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14" name="右箭头 13"/>
          <p:cNvSpPr/>
          <p:nvPr/>
        </p:nvSpPr>
        <p:spPr>
          <a:xfrm>
            <a:off x="6503670" y="1345248"/>
            <a:ext cx="280035" cy="13716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16" name="矩形 15"/>
          <p:cNvSpPr/>
          <p:nvPr/>
        </p:nvSpPr>
        <p:spPr>
          <a:xfrm>
            <a:off x="556260" y="1720215"/>
            <a:ext cx="1628140" cy="56261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solidFill>
                <a:srgbClr val="FFFF00"/>
              </a:solidFill>
              <a:sym typeface="+mn-ea"/>
            </a:endParaRPr>
          </a:p>
        </p:txBody>
      </p:sp>
      <p:sp>
        <p:nvSpPr>
          <p:cNvPr id="17" name="矩形 16"/>
          <p:cNvSpPr/>
          <p:nvPr/>
        </p:nvSpPr>
        <p:spPr>
          <a:xfrm>
            <a:off x="556419" y="2552541"/>
            <a:ext cx="1628299" cy="44577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350">
                <a:solidFill>
                  <a:srgbClr val="FFFF00"/>
                </a:solidFill>
                <a:sym typeface="+mn-ea"/>
              </a:rPr>
              <a:t>点云配准</a:t>
            </a:r>
            <a:r>
              <a:rPr lang="en-US" altLang="zh-CN" sz="1350">
                <a:solidFill>
                  <a:srgbClr val="FFFF00"/>
                </a:solidFill>
                <a:sym typeface="+mn-ea"/>
              </a:rPr>
              <a:t>/dxf</a:t>
            </a:r>
            <a:r>
              <a:rPr lang="zh-CN" altLang="en-US" sz="1350">
                <a:solidFill>
                  <a:srgbClr val="FFFF00"/>
                </a:solidFill>
                <a:sym typeface="+mn-ea"/>
              </a:rPr>
              <a:t>配准</a:t>
            </a:r>
          </a:p>
        </p:txBody>
      </p:sp>
      <p:sp>
        <p:nvSpPr>
          <p:cNvPr id="18" name="右箭头 17"/>
          <p:cNvSpPr/>
          <p:nvPr/>
        </p:nvSpPr>
        <p:spPr>
          <a:xfrm rot="5400000">
            <a:off x="1260158" y="2351723"/>
            <a:ext cx="186690" cy="13716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19" name="矩形 18"/>
          <p:cNvSpPr/>
          <p:nvPr/>
        </p:nvSpPr>
        <p:spPr>
          <a:xfrm>
            <a:off x="556419" y="4901248"/>
            <a:ext cx="1628299" cy="44577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350">
                <a:solidFill>
                  <a:srgbClr val="FFFF00"/>
                </a:solidFill>
                <a:sym typeface="+mn-ea"/>
              </a:rPr>
              <a:t>井口扫描</a:t>
            </a:r>
          </a:p>
        </p:txBody>
      </p:sp>
      <p:sp>
        <p:nvSpPr>
          <p:cNvPr id="20" name="矩形 19"/>
          <p:cNvSpPr/>
          <p:nvPr/>
        </p:nvSpPr>
        <p:spPr>
          <a:xfrm>
            <a:off x="556419" y="5570379"/>
            <a:ext cx="1628299" cy="44577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350">
                <a:solidFill>
                  <a:srgbClr val="FFFF00"/>
                </a:solidFill>
                <a:sym typeface="+mn-ea"/>
              </a:rPr>
              <a:t>工作区扫描</a:t>
            </a:r>
          </a:p>
        </p:txBody>
      </p:sp>
      <p:sp>
        <p:nvSpPr>
          <p:cNvPr id="21" name="右箭头 20"/>
          <p:cNvSpPr/>
          <p:nvPr/>
        </p:nvSpPr>
        <p:spPr>
          <a:xfrm rot="5400000">
            <a:off x="1274763" y="5372100"/>
            <a:ext cx="186690" cy="13716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22" name="矩形 21"/>
          <p:cNvSpPr/>
          <p:nvPr/>
        </p:nvSpPr>
        <p:spPr>
          <a:xfrm>
            <a:off x="556419" y="6239510"/>
            <a:ext cx="1628299" cy="44577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350">
                <a:solidFill>
                  <a:srgbClr val="FFFF00"/>
                </a:solidFill>
                <a:sym typeface="+mn-ea"/>
              </a:rPr>
              <a:t>焊缝扫描</a:t>
            </a:r>
          </a:p>
        </p:txBody>
      </p:sp>
      <p:sp>
        <p:nvSpPr>
          <p:cNvPr id="23" name="右箭头 22"/>
          <p:cNvSpPr/>
          <p:nvPr/>
        </p:nvSpPr>
        <p:spPr>
          <a:xfrm rot="5400000">
            <a:off x="1275080" y="6059011"/>
            <a:ext cx="186690" cy="13716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cxnSp>
        <p:nvCxnSpPr>
          <p:cNvPr id="24" name="直接连接符 23"/>
          <p:cNvCxnSpPr/>
          <p:nvPr/>
        </p:nvCxnSpPr>
        <p:spPr>
          <a:xfrm>
            <a:off x="2400935" y="1719580"/>
            <a:ext cx="0" cy="4648200"/>
          </a:xfrm>
          <a:prstGeom prst="line">
            <a:avLst/>
          </a:prstGeom>
          <a:ln w="1270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28" name="直接连接符 27"/>
          <p:cNvCxnSpPr/>
          <p:nvPr/>
        </p:nvCxnSpPr>
        <p:spPr>
          <a:xfrm>
            <a:off x="4486910" y="1684655"/>
            <a:ext cx="0" cy="4582795"/>
          </a:xfrm>
          <a:prstGeom prst="line">
            <a:avLst/>
          </a:prstGeom>
          <a:ln w="1270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sp>
        <p:nvSpPr>
          <p:cNvPr id="29" name="矩形 28"/>
          <p:cNvSpPr/>
          <p:nvPr/>
        </p:nvSpPr>
        <p:spPr>
          <a:xfrm>
            <a:off x="557054" y="3294221"/>
            <a:ext cx="1628299" cy="44577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350">
                <a:solidFill>
                  <a:srgbClr val="FFFF00"/>
                </a:solidFill>
                <a:sym typeface="+mn-ea"/>
              </a:rPr>
              <a:t>焊缝位置</a:t>
            </a:r>
          </a:p>
        </p:txBody>
      </p:sp>
      <p:sp>
        <p:nvSpPr>
          <p:cNvPr id="30" name="右箭头 29"/>
          <p:cNvSpPr/>
          <p:nvPr/>
        </p:nvSpPr>
        <p:spPr>
          <a:xfrm rot="5400000">
            <a:off x="1260158" y="3061653"/>
            <a:ext cx="186690" cy="13716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37" name="矩形 36"/>
          <p:cNvSpPr/>
          <p:nvPr/>
        </p:nvSpPr>
        <p:spPr>
          <a:xfrm>
            <a:off x="2570004" y="1722120"/>
            <a:ext cx="1628299" cy="44577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350">
                <a:solidFill>
                  <a:srgbClr val="FFFF00"/>
                </a:solidFill>
                <a:sym typeface="+mn-ea"/>
              </a:rPr>
              <a:t>数字模拟仿真</a:t>
            </a:r>
          </a:p>
        </p:txBody>
      </p:sp>
      <p:sp>
        <p:nvSpPr>
          <p:cNvPr id="38" name="右箭头 37"/>
          <p:cNvSpPr/>
          <p:nvPr/>
        </p:nvSpPr>
        <p:spPr>
          <a:xfrm rot="5400000">
            <a:off x="3301048" y="2269808"/>
            <a:ext cx="186690" cy="13716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39" name="矩形 38"/>
          <p:cNvSpPr/>
          <p:nvPr/>
        </p:nvSpPr>
        <p:spPr>
          <a:xfrm>
            <a:off x="2580799" y="2462530"/>
            <a:ext cx="1628299" cy="44577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350">
                <a:solidFill>
                  <a:srgbClr val="FFFF00"/>
                </a:solidFill>
                <a:sym typeface="+mn-ea"/>
              </a:rPr>
              <a:t>训练可微代理模型</a:t>
            </a:r>
          </a:p>
        </p:txBody>
      </p:sp>
      <p:sp>
        <p:nvSpPr>
          <p:cNvPr id="40" name="矩形 39"/>
          <p:cNvSpPr/>
          <p:nvPr/>
        </p:nvSpPr>
        <p:spPr>
          <a:xfrm>
            <a:off x="2569369" y="3194526"/>
            <a:ext cx="1628299" cy="44577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350">
                <a:solidFill>
                  <a:srgbClr val="FFFF00"/>
                </a:solidFill>
                <a:sym typeface="+mn-ea"/>
              </a:rPr>
              <a:t>焊接序列优化</a:t>
            </a:r>
          </a:p>
        </p:txBody>
      </p:sp>
      <p:sp>
        <p:nvSpPr>
          <p:cNvPr id="41" name="右箭头 40"/>
          <p:cNvSpPr/>
          <p:nvPr/>
        </p:nvSpPr>
        <p:spPr>
          <a:xfrm rot="5400000">
            <a:off x="3301048" y="2982278"/>
            <a:ext cx="186690" cy="13716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42" name="文本框 41"/>
          <p:cNvSpPr txBox="1"/>
          <p:nvPr/>
        </p:nvSpPr>
        <p:spPr>
          <a:xfrm>
            <a:off x="3502660" y="2177415"/>
            <a:ext cx="507365" cy="275590"/>
          </a:xfrm>
          <a:prstGeom prst="rect">
            <a:avLst/>
          </a:prstGeom>
          <a:noFill/>
        </p:spPr>
        <p:txBody>
          <a:bodyPr wrap="square" rtlCol="0">
            <a:spAutoFit/>
          </a:bodyPr>
          <a:lstStyle/>
          <a:p>
            <a:r>
              <a:rPr lang="zh-CN" altLang="en-US" sz="1200"/>
              <a:t>数据</a:t>
            </a:r>
          </a:p>
        </p:txBody>
      </p:sp>
      <p:sp>
        <p:nvSpPr>
          <p:cNvPr id="43" name="右箭头 42"/>
          <p:cNvSpPr/>
          <p:nvPr/>
        </p:nvSpPr>
        <p:spPr>
          <a:xfrm rot="5400000">
            <a:off x="3301048" y="3715068"/>
            <a:ext cx="186690" cy="13716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44" name="矩形 43"/>
          <p:cNvSpPr/>
          <p:nvPr/>
        </p:nvSpPr>
        <p:spPr>
          <a:xfrm>
            <a:off x="2500630" y="3926840"/>
            <a:ext cx="1796415" cy="44577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350">
                <a:solidFill>
                  <a:srgbClr val="FFFF00"/>
                </a:solidFill>
                <a:sym typeface="+mn-ea"/>
              </a:rPr>
              <a:t>最小热变形焊接序列</a:t>
            </a:r>
          </a:p>
        </p:txBody>
      </p:sp>
      <p:sp>
        <p:nvSpPr>
          <p:cNvPr id="45" name="矩形 44"/>
          <p:cNvSpPr/>
          <p:nvPr/>
        </p:nvSpPr>
        <p:spPr>
          <a:xfrm>
            <a:off x="4715510" y="1719580"/>
            <a:ext cx="1739900" cy="113919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solidFill>
                <a:srgbClr val="FFFF00"/>
              </a:solidFill>
              <a:sym typeface="+mn-ea"/>
            </a:endParaRPr>
          </a:p>
        </p:txBody>
      </p:sp>
      <p:sp>
        <p:nvSpPr>
          <p:cNvPr id="46" name="右箭头 45"/>
          <p:cNvSpPr/>
          <p:nvPr/>
        </p:nvSpPr>
        <p:spPr>
          <a:xfrm rot="5400000">
            <a:off x="5487353" y="2946718"/>
            <a:ext cx="186690" cy="13716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47" name="矩形 46"/>
          <p:cNvSpPr/>
          <p:nvPr/>
        </p:nvSpPr>
        <p:spPr>
          <a:xfrm>
            <a:off x="4693285" y="3172460"/>
            <a:ext cx="1741805" cy="1162685"/>
          </a:xfrm>
          <a:prstGeom prst="rect">
            <a:avLst/>
          </a:prstGeom>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solidFill>
                <a:srgbClr val="FFFF00"/>
              </a:solidFill>
              <a:sym typeface="+mn-ea"/>
            </a:endParaRPr>
          </a:p>
        </p:txBody>
      </p:sp>
      <p:sp>
        <p:nvSpPr>
          <p:cNvPr id="48" name="右箭头 47"/>
          <p:cNvSpPr/>
          <p:nvPr/>
        </p:nvSpPr>
        <p:spPr>
          <a:xfrm rot="5400000">
            <a:off x="5487988" y="4479608"/>
            <a:ext cx="186690" cy="13716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49" name="矩形 48"/>
          <p:cNvSpPr/>
          <p:nvPr/>
        </p:nvSpPr>
        <p:spPr>
          <a:xfrm>
            <a:off x="4683760" y="4702810"/>
            <a:ext cx="1741805" cy="126682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solidFill>
                <a:srgbClr val="FFFF00"/>
              </a:solidFill>
              <a:sym typeface="+mn-ea"/>
            </a:endParaRPr>
          </a:p>
        </p:txBody>
      </p:sp>
      <p:sp>
        <p:nvSpPr>
          <p:cNvPr id="51" name="文本框 50"/>
          <p:cNvSpPr txBox="1"/>
          <p:nvPr/>
        </p:nvSpPr>
        <p:spPr>
          <a:xfrm>
            <a:off x="1157605" y="4518025"/>
            <a:ext cx="428625" cy="337185"/>
          </a:xfrm>
          <a:prstGeom prst="rect">
            <a:avLst/>
          </a:prstGeom>
          <a:noFill/>
        </p:spPr>
        <p:txBody>
          <a:bodyPr wrap="square" rtlCol="0">
            <a:spAutoFit/>
          </a:bodyPr>
          <a:lstStyle/>
          <a:p>
            <a:r>
              <a:rPr lang="en-US" altLang="zh-CN" sz="1600" b="1"/>
              <a:t>or</a:t>
            </a:r>
          </a:p>
        </p:txBody>
      </p:sp>
      <p:sp>
        <p:nvSpPr>
          <p:cNvPr id="52" name="矩形 51"/>
          <p:cNvSpPr/>
          <p:nvPr/>
        </p:nvSpPr>
        <p:spPr>
          <a:xfrm>
            <a:off x="557689" y="4026853"/>
            <a:ext cx="1628299" cy="44577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350">
                <a:solidFill>
                  <a:srgbClr val="FFFF00"/>
                </a:solidFill>
                <a:sym typeface="+mn-ea"/>
              </a:rPr>
              <a:t>投影法精度检测</a:t>
            </a:r>
          </a:p>
        </p:txBody>
      </p:sp>
      <p:sp>
        <p:nvSpPr>
          <p:cNvPr id="53" name="右箭头 52"/>
          <p:cNvSpPr/>
          <p:nvPr/>
        </p:nvSpPr>
        <p:spPr>
          <a:xfrm rot="5400000">
            <a:off x="1260158" y="3815080"/>
            <a:ext cx="186690" cy="13716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54" name="文本框 53"/>
          <p:cNvSpPr txBox="1"/>
          <p:nvPr/>
        </p:nvSpPr>
        <p:spPr>
          <a:xfrm>
            <a:off x="4789805" y="1738630"/>
            <a:ext cx="1599565" cy="506730"/>
          </a:xfrm>
          <a:prstGeom prst="rect">
            <a:avLst/>
          </a:prstGeom>
          <a:noFill/>
        </p:spPr>
        <p:txBody>
          <a:bodyPr wrap="square" rtlCol="0">
            <a:spAutoFit/>
          </a:bodyPr>
          <a:lstStyle/>
          <a:p>
            <a:pPr algn="ctr"/>
            <a:r>
              <a:rPr lang="zh-CN" altLang="en-US" sz="1350">
                <a:solidFill>
                  <a:srgbClr val="FFFF00"/>
                </a:solidFill>
              </a:rPr>
              <a:t>正逆运动学建模与标定</a:t>
            </a:r>
            <a:endParaRPr lang="zh-CN" altLang="en-US"/>
          </a:p>
        </p:txBody>
      </p:sp>
      <p:cxnSp>
        <p:nvCxnSpPr>
          <p:cNvPr id="55" name="直接连接符 54"/>
          <p:cNvCxnSpPr/>
          <p:nvPr/>
        </p:nvCxnSpPr>
        <p:spPr>
          <a:xfrm>
            <a:off x="4775200" y="2269490"/>
            <a:ext cx="1593850" cy="0"/>
          </a:xfrm>
          <a:prstGeom prst="line">
            <a:avLst/>
          </a:prstGeom>
          <a:ln w="31750">
            <a:solidFill>
              <a:srgbClr val="FFFF00"/>
            </a:solidFill>
          </a:ln>
        </p:spPr>
        <p:style>
          <a:lnRef idx="0">
            <a:srgbClr val="FFFFFF"/>
          </a:lnRef>
          <a:fillRef idx="0">
            <a:srgbClr val="FFFFFF"/>
          </a:fillRef>
          <a:effectRef idx="0">
            <a:srgbClr val="FFFFFF"/>
          </a:effectRef>
          <a:fontRef idx="minor">
            <a:schemeClr val="tx1"/>
          </a:fontRef>
        </p:style>
      </p:cxnSp>
      <p:sp>
        <p:nvSpPr>
          <p:cNvPr id="56" name="文本框 55"/>
          <p:cNvSpPr txBox="1"/>
          <p:nvPr/>
        </p:nvSpPr>
        <p:spPr>
          <a:xfrm>
            <a:off x="4746625" y="2327275"/>
            <a:ext cx="1962150" cy="506730"/>
          </a:xfrm>
          <a:prstGeom prst="rect">
            <a:avLst/>
          </a:prstGeom>
          <a:noFill/>
        </p:spPr>
        <p:txBody>
          <a:bodyPr wrap="square" rtlCol="0">
            <a:spAutoFit/>
          </a:bodyPr>
          <a:lstStyle/>
          <a:p>
            <a:pPr marL="285750" indent="-285750">
              <a:buFont typeface="Arial" panose="020B0604020202020204" pitchFamily="34" charset="0"/>
              <a:buChar char="•"/>
            </a:pPr>
            <a:r>
              <a:rPr lang="zh-CN" altLang="en-US" sz="1350">
                <a:solidFill>
                  <a:srgbClr val="FFFF00"/>
                </a:solidFill>
              </a:rPr>
              <a:t>P3R6机械臂</a:t>
            </a:r>
          </a:p>
          <a:p>
            <a:pPr marL="285750" indent="-285750">
              <a:buFont typeface="Arial" panose="020B0604020202020204" pitchFamily="34" charset="0"/>
              <a:buChar char="•"/>
            </a:pPr>
            <a:r>
              <a:rPr lang="zh-CN" altLang="en-US" sz="1350">
                <a:solidFill>
                  <a:srgbClr val="FFFF00"/>
                </a:solidFill>
              </a:rPr>
              <a:t>或其他机构综合</a:t>
            </a:r>
            <a:endParaRPr lang="zh-CN" altLang="en-US"/>
          </a:p>
        </p:txBody>
      </p:sp>
      <p:sp>
        <p:nvSpPr>
          <p:cNvPr id="57" name="文本框 56"/>
          <p:cNvSpPr txBox="1"/>
          <p:nvPr/>
        </p:nvSpPr>
        <p:spPr>
          <a:xfrm>
            <a:off x="4660900" y="3237865"/>
            <a:ext cx="1774825" cy="299085"/>
          </a:xfrm>
          <a:prstGeom prst="rect">
            <a:avLst/>
          </a:prstGeom>
          <a:noFill/>
        </p:spPr>
        <p:txBody>
          <a:bodyPr wrap="square" rtlCol="0">
            <a:spAutoFit/>
          </a:bodyPr>
          <a:lstStyle/>
          <a:p>
            <a:r>
              <a:rPr lang="zh-CN" altLang="en-US" sz="1350">
                <a:solidFill>
                  <a:srgbClr val="FFFF00"/>
                </a:solidFill>
                <a:sym typeface="+mn-ea"/>
              </a:rPr>
              <a:t>机械臂焊前轨迹规划</a:t>
            </a:r>
            <a:endParaRPr lang="zh-CN" altLang="en-US" sz="1350">
              <a:solidFill>
                <a:srgbClr val="FFFF00"/>
              </a:solidFill>
            </a:endParaRPr>
          </a:p>
        </p:txBody>
      </p:sp>
      <p:cxnSp>
        <p:nvCxnSpPr>
          <p:cNvPr id="58" name="直接连接符 57"/>
          <p:cNvCxnSpPr/>
          <p:nvPr/>
        </p:nvCxnSpPr>
        <p:spPr>
          <a:xfrm>
            <a:off x="4775835" y="3599815"/>
            <a:ext cx="1593850" cy="0"/>
          </a:xfrm>
          <a:prstGeom prst="line">
            <a:avLst/>
          </a:prstGeom>
          <a:ln w="31750">
            <a:solidFill>
              <a:srgbClr val="FFFF00"/>
            </a:solidFill>
          </a:ln>
        </p:spPr>
        <p:style>
          <a:lnRef idx="0">
            <a:srgbClr val="FFFFFF"/>
          </a:lnRef>
          <a:fillRef idx="0">
            <a:srgbClr val="FFFFFF"/>
          </a:fillRef>
          <a:effectRef idx="0">
            <a:srgbClr val="FFFFFF"/>
          </a:effectRef>
          <a:fontRef idx="minor">
            <a:schemeClr val="tx1"/>
          </a:fontRef>
        </p:style>
      </p:cxnSp>
      <p:sp>
        <p:nvSpPr>
          <p:cNvPr id="59" name="文本框 58"/>
          <p:cNvSpPr txBox="1"/>
          <p:nvPr/>
        </p:nvSpPr>
        <p:spPr>
          <a:xfrm>
            <a:off x="4716145" y="3618230"/>
            <a:ext cx="1719580" cy="714375"/>
          </a:xfrm>
          <a:prstGeom prst="rect">
            <a:avLst/>
          </a:prstGeom>
          <a:noFill/>
        </p:spPr>
        <p:txBody>
          <a:bodyPr wrap="square" rtlCol="0">
            <a:spAutoFit/>
          </a:bodyPr>
          <a:lstStyle/>
          <a:p>
            <a:pPr marL="285750" indent="-285750">
              <a:buFont typeface="Arial" panose="020B0604020202020204" pitchFamily="34" charset="0"/>
              <a:buChar char="•"/>
            </a:pPr>
            <a:r>
              <a:rPr lang="zh-CN" altLang="en-US" sz="1350">
                <a:solidFill>
                  <a:srgbClr val="FFFF00"/>
                </a:solidFill>
              </a:rPr>
              <a:t>无干涉并留余量</a:t>
            </a:r>
          </a:p>
          <a:p>
            <a:pPr marL="285750" indent="-285750" algn="l">
              <a:buClrTx/>
              <a:buSzTx/>
              <a:buFont typeface="Arial" panose="020B0604020202020204" pitchFamily="34" charset="0"/>
              <a:buChar char="•"/>
            </a:pPr>
            <a:r>
              <a:rPr lang="zh-CN" altLang="en-US" sz="1350">
                <a:solidFill>
                  <a:srgbClr val="FFFF00"/>
                </a:solidFill>
              </a:rPr>
              <a:t>时间最短，冲击最小</a:t>
            </a:r>
          </a:p>
        </p:txBody>
      </p:sp>
      <p:cxnSp>
        <p:nvCxnSpPr>
          <p:cNvPr id="60" name="直接连接符 59"/>
          <p:cNvCxnSpPr/>
          <p:nvPr/>
        </p:nvCxnSpPr>
        <p:spPr>
          <a:xfrm>
            <a:off x="6644005" y="1684655"/>
            <a:ext cx="0" cy="4582795"/>
          </a:xfrm>
          <a:prstGeom prst="line">
            <a:avLst/>
          </a:prstGeom>
          <a:ln w="1270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sp>
        <p:nvSpPr>
          <p:cNvPr id="61" name="文本框 60"/>
          <p:cNvSpPr txBox="1"/>
          <p:nvPr/>
        </p:nvSpPr>
        <p:spPr>
          <a:xfrm>
            <a:off x="4761230" y="4749165"/>
            <a:ext cx="1588770" cy="299085"/>
          </a:xfrm>
          <a:prstGeom prst="rect">
            <a:avLst/>
          </a:prstGeom>
          <a:noFill/>
        </p:spPr>
        <p:txBody>
          <a:bodyPr wrap="square" rtlCol="0">
            <a:spAutoFit/>
          </a:bodyPr>
          <a:lstStyle/>
          <a:p>
            <a:r>
              <a:rPr lang="zh-CN" altLang="en-US" sz="1350">
                <a:solidFill>
                  <a:srgbClr val="FFFF00"/>
                </a:solidFill>
                <a:sym typeface="+mn-ea"/>
              </a:rPr>
              <a:t>焊中在线焊缝跟踪</a:t>
            </a:r>
            <a:endParaRPr lang="zh-CN" altLang="en-US" sz="1350">
              <a:solidFill>
                <a:srgbClr val="FFFF00"/>
              </a:solidFill>
            </a:endParaRPr>
          </a:p>
        </p:txBody>
      </p:sp>
      <p:cxnSp>
        <p:nvCxnSpPr>
          <p:cNvPr id="62" name="直接连接符 61"/>
          <p:cNvCxnSpPr/>
          <p:nvPr/>
        </p:nvCxnSpPr>
        <p:spPr>
          <a:xfrm>
            <a:off x="4761230" y="5123180"/>
            <a:ext cx="1593850" cy="0"/>
          </a:xfrm>
          <a:prstGeom prst="line">
            <a:avLst/>
          </a:prstGeom>
          <a:ln w="31750">
            <a:solidFill>
              <a:srgbClr val="FFFF00"/>
            </a:solidFill>
          </a:ln>
        </p:spPr>
        <p:style>
          <a:lnRef idx="0">
            <a:srgbClr val="FFFFFF"/>
          </a:lnRef>
          <a:fillRef idx="0">
            <a:srgbClr val="FFFFFF"/>
          </a:fillRef>
          <a:effectRef idx="0">
            <a:srgbClr val="FFFFFF"/>
          </a:effectRef>
          <a:fontRef idx="minor">
            <a:schemeClr val="tx1"/>
          </a:fontRef>
        </p:style>
      </p:cxnSp>
      <p:sp>
        <p:nvSpPr>
          <p:cNvPr id="63" name="文本框 62"/>
          <p:cNvSpPr txBox="1"/>
          <p:nvPr/>
        </p:nvSpPr>
        <p:spPr>
          <a:xfrm>
            <a:off x="4683760" y="5194935"/>
            <a:ext cx="1719580" cy="714375"/>
          </a:xfrm>
          <a:prstGeom prst="rect">
            <a:avLst/>
          </a:prstGeom>
          <a:noFill/>
        </p:spPr>
        <p:txBody>
          <a:bodyPr wrap="square" rtlCol="0">
            <a:spAutoFit/>
          </a:bodyPr>
          <a:lstStyle/>
          <a:p>
            <a:pPr marL="285750" indent="-285750">
              <a:buFont typeface="Arial" panose="020B0604020202020204" pitchFamily="34" charset="0"/>
              <a:buChar char="•"/>
            </a:pPr>
            <a:r>
              <a:rPr lang="zh-CN" altLang="en-US" sz="1350">
                <a:solidFill>
                  <a:srgbClr val="FFFF00"/>
                </a:solidFill>
              </a:rPr>
              <a:t>补偿热变形、装配误差</a:t>
            </a:r>
          </a:p>
          <a:p>
            <a:pPr marL="285750" indent="-285750">
              <a:buFont typeface="Arial" panose="020B0604020202020204" pitchFamily="34" charset="0"/>
              <a:buChar char="•"/>
            </a:pPr>
            <a:r>
              <a:rPr lang="zh-CN" altLang="en-US" sz="1350">
                <a:solidFill>
                  <a:srgbClr val="FFFF00"/>
                </a:solidFill>
              </a:rPr>
              <a:t>实时修正轨迹</a:t>
            </a:r>
          </a:p>
        </p:txBody>
      </p:sp>
      <p:sp>
        <p:nvSpPr>
          <p:cNvPr id="64" name="矩形 63"/>
          <p:cNvSpPr/>
          <p:nvPr/>
        </p:nvSpPr>
        <p:spPr>
          <a:xfrm>
            <a:off x="6898799" y="1738630"/>
            <a:ext cx="1628299" cy="44577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350">
                <a:solidFill>
                  <a:srgbClr val="FFFF00"/>
                </a:solidFill>
                <a:sym typeface="+mn-ea"/>
              </a:rPr>
              <a:t>中组立移动</a:t>
            </a:r>
          </a:p>
        </p:txBody>
      </p:sp>
      <p:sp>
        <p:nvSpPr>
          <p:cNvPr id="65" name="矩形 64"/>
          <p:cNvSpPr/>
          <p:nvPr/>
        </p:nvSpPr>
        <p:spPr>
          <a:xfrm>
            <a:off x="6899434" y="2477135"/>
            <a:ext cx="1628299" cy="44577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350">
                <a:solidFill>
                  <a:srgbClr val="FFFF00"/>
                </a:solidFill>
                <a:sym typeface="+mn-ea"/>
              </a:rPr>
              <a:t>焊缝识别与定位</a:t>
            </a:r>
            <a:endParaRPr lang="en-US" altLang="zh-CN" sz="1350">
              <a:solidFill>
                <a:srgbClr val="FFFF00"/>
              </a:solidFill>
              <a:sym typeface="+mn-ea"/>
            </a:endParaRPr>
          </a:p>
        </p:txBody>
      </p:sp>
      <p:sp>
        <p:nvSpPr>
          <p:cNvPr id="66" name="右箭头 65"/>
          <p:cNvSpPr/>
          <p:nvPr/>
        </p:nvSpPr>
        <p:spPr>
          <a:xfrm rot="5400000">
            <a:off x="7619683" y="2264728"/>
            <a:ext cx="186690" cy="13716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67" name="矩形 66"/>
          <p:cNvSpPr/>
          <p:nvPr/>
        </p:nvSpPr>
        <p:spPr>
          <a:xfrm>
            <a:off x="6897211" y="3216593"/>
            <a:ext cx="1628299" cy="44577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350">
                <a:solidFill>
                  <a:srgbClr val="FFFF00"/>
                </a:solidFill>
                <a:sym typeface="+mn-ea"/>
              </a:rPr>
              <a:t>机械臂轨迹规划</a:t>
            </a:r>
          </a:p>
        </p:txBody>
      </p:sp>
      <p:sp>
        <p:nvSpPr>
          <p:cNvPr id="68" name="右箭头 67"/>
          <p:cNvSpPr/>
          <p:nvPr/>
        </p:nvSpPr>
        <p:spPr>
          <a:xfrm rot="5400000">
            <a:off x="7619683" y="2984183"/>
            <a:ext cx="186690" cy="13716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69" name="矩形 68"/>
          <p:cNvSpPr/>
          <p:nvPr/>
        </p:nvSpPr>
        <p:spPr>
          <a:xfrm>
            <a:off x="6899751" y="3954463"/>
            <a:ext cx="1628299" cy="44577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350">
                <a:solidFill>
                  <a:srgbClr val="FFFF00"/>
                </a:solidFill>
                <a:sym typeface="+mn-ea"/>
              </a:rPr>
              <a:t>缺陷检测与定位</a:t>
            </a:r>
          </a:p>
        </p:txBody>
      </p:sp>
      <p:sp>
        <p:nvSpPr>
          <p:cNvPr id="70" name="右箭头 69"/>
          <p:cNvSpPr/>
          <p:nvPr/>
        </p:nvSpPr>
        <p:spPr>
          <a:xfrm rot="5400000">
            <a:off x="7619683" y="3737293"/>
            <a:ext cx="186690" cy="13716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1" name="文本框 70"/>
          <p:cNvSpPr txBox="1"/>
          <p:nvPr/>
        </p:nvSpPr>
        <p:spPr>
          <a:xfrm>
            <a:off x="7781925" y="3662680"/>
            <a:ext cx="507365" cy="275590"/>
          </a:xfrm>
          <a:prstGeom prst="rect">
            <a:avLst/>
          </a:prstGeom>
          <a:noFill/>
        </p:spPr>
        <p:txBody>
          <a:bodyPr wrap="square" rtlCol="0">
            <a:spAutoFit/>
          </a:bodyPr>
          <a:lstStyle/>
          <a:p>
            <a:r>
              <a:rPr lang="zh-CN" altLang="en-US" sz="1200"/>
              <a:t>扫描</a:t>
            </a:r>
          </a:p>
        </p:txBody>
      </p:sp>
      <p:sp>
        <p:nvSpPr>
          <p:cNvPr id="2" name="文本框 1"/>
          <p:cNvSpPr txBox="1"/>
          <p:nvPr/>
        </p:nvSpPr>
        <p:spPr>
          <a:xfrm>
            <a:off x="922020" y="1684655"/>
            <a:ext cx="895985" cy="299085"/>
          </a:xfrm>
          <a:prstGeom prst="rect">
            <a:avLst/>
          </a:prstGeom>
          <a:noFill/>
        </p:spPr>
        <p:txBody>
          <a:bodyPr wrap="square" rtlCol="0">
            <a:spAutoFit/>
          </a:bodyPr>
          <a:lstStyle/>
          <a:p>
            <a:r>
              <a:rPr lang="zh-CN" altLang="en-US" sz="1350">
                <a:solidFill>
                  <a:srgbClr val="FFFF00"/>
                </a:solidFill>
              </a:rPr>
              <a:t>井口扫描</a:t>
            </a:r>
          </a:p>
        </p:txBody>
      </p:sp>
      <p:sp>
        <p:nvSpPr>
          <p:cNvPr id="3" name="文本框 2"/>
          <p:cNvSpPr txBox="1"/>
          <p:nvPr/>
        </p:nvSpPr>
        <p:spPr>
          <a:xfrm>
            <a:off x="496570" y="1983740"/>
            <a:ext cx="925830" cy="299085"/>
          </a:xfrm>
          <a:prstGeom prst="rect">
            <a:avLst/>
          </a:prstGeom>
          <a:noFill/>
        </p:spPr>
        <p:txBody>
          <a:bodyPr wrap="square" rtlCol="0">
            <a:spAutoFit/>
          </a:bodyPr>
          <a:lstStyle/>
          <a:p>
            <a:r>
              <a:rPr lang="zh-CN" altLang="en-US" sz="1350">
                <a:solidFill>
                  <a:srgbClr val="FFFF00"/>
                </a:solidFill>
              </a:rPr>
              <a:t>点云解析</a:t>
            </a:r>
            <a:endParaRPr lang="zh-CN" altLang="en-US"/>
          </a:p>
        </p:txBody>
      </p:sp>
      <p:sp>
        <p:nvSpPr>
          <p:cNvPr id="4" name="文本框 3"/>
          <p:cNvSpPr txBox="1"/>
          <p:nvPr/>
        </p:nvSpPr>
        <p:spPr>
          <a:xfrm>
            <a:off x="1335405" y="1983740"/>
            <a:ext cx="925830" cy="299085"/>
          </a:xfrm>
          <a:prstGeom prst="rect">
            <a:avLst/>
          </a:prstGeom>
          <a:noFill/>
        </p:spPr>
        <p:txBody>
          <a:bodyPr wrap="square" rtlCol="0">
            <a:spAutoFit/>
          </a:bodyPr>
          <a:lstStyle/>
          <a:p>
            <a:r>
              <a:rPr lang="zh-CN" altLang="en-US" sz="1350">
                <a:solidFill>
                  <a:srgbClr val="FFFF00"/>
                </a:solidFill>
              </a:rPr>
              <a:t>点云拼接</a:t>
            </a:r>
          </a:p>
        </p:txBody>
      </p:sp>
      <p:cxnSp>
        <p:nvCxnSpPr>
          <p:cNvPr id="15" name="直接连接符 14"/>
          <p:cNvCxnSpPr/>
          <p:nvPr/>
        </p:nvCxnSpPr>
        <p:spPr>
          <a:xfrm>
            <a:off x="590550" y="1983740"/>
            <a:ext cx="1593850" cy="0"/>
          </a:xfrm>
          <a:prstGeom prst="line">
            <a:avLst/>
          </a:prstGeom>
          <a:ln w="31750">
            <a:solidFill>
              <a:srgbClr val="FFFF00"/>
            </a:solidFill>
          </a:ln>
        </p:spPr>
        <p:style>
          <a:lnRef idx="0">
            <a:srgbClr val="FFFFFF"/>
          </a:lnRef>
          <a:fillRef idx="0">
            <a:srgbClr val="FFFFFF"/>
          </a:fillRef>
          <a:effectRef idx="0">
            <a:srgbClr val="FFFFFF"/>
          </a:effectRef>
          <a:fontRef idx="minor">
            <a:schemeClr val="tx1"/>
          </a:fontRef>
        </p:style>
      </p:cxn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9144000" cy="508159"/>
          </a:xfrm>
          <a:prstGeom prst="rect">
            <a:avLst/>
          </a:prstGeom>
          <a:solidFill>
            <a:schemeClr val="accent1">
              <a:lumMod val="75000"/>
            </a:schemeClr>
          </a:solidFill>
          <a:ln>
            <a:noFill/>
          </a:ln>
          <a:effectLst>
            <a:softEdge rad="127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6" name="文本框 5"/>
          <p:cNvSpPr txBox="1"/>
          <p:nvPr/>
        </p:nvSpPr>
        <p:spPr>
          <a:xfrm>
            <a:off x="139224" y="47149"/>
            <a:ext cx="1272064" cy="414020"/>
          </a:xfrm>
          <a:prstGeom prst="rect">
            <a:avLst/>
          </a:prstGeom>
          <a:noFill/>
        </p:spPr>
        <p:txBody>
          <a:bodyPr wrap="square" rtlCol="0">
            <a:spAutoFit/>
          </a:bodyPr>
          <a:lstStyle/>
          <a:p>
            <a:r>
              <a:rPr lang="zh-CN" altLang="en-US" sz="2100" b="1">
                <a:solidFill>
                  <a:schemeClr val="bg1"/>
                </a:solidFill>
              </a:rPr>
              <a:t>方案构思</a:t>
            </a:r>
          </a:p>
        </p:txBody>
      </p:sp>
      <p:sp>
        <p:nvSpPr>
          <p:cNvPr id="7" name="矩形 6"/>
          <p:cNvSpPr/>
          <p:nvPr/>
        </p:nvSpPr>
        <p:spPr>
          <a:xfrm>
            <a:off x="495459" y="692150"/>
            <a:ext cx="8031004" cy="552450"/>
          </a:xfrm>
          <a:prstGeom prst="rect">
            <a:avLst/>
          </a:prstGeom>
          <a:solidFill>
            <a:schemeClr val="accent1">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100"/>
              <a:t>中组立自动化焊接与检测</a:t>
            </a:r>
          </a:p>
        </p:txBody>
      </p:sp>
      <p:graphicFrame>
        <p:nvGraphicFramePr>
          <p:cNvPr id="2" name="表格 1"/>
          <p:cNvGraphicFramePr/>
          <p:nvPr>
            <p:custDataLst>
              <p:tags r:id="rId2"/>
            </p:custDataLst>
          </p:nvPr>
        </p:nvGraphicFramePr>
        <p:xfrm>
          <a:off x="508000" y="1379220"/>
          <a:ext cx="7994650" cy="5286756"/>
        </p:xfrm>
        <a:graphic>
          <a:graphicData uri="http://schemas.openxmlformats.org/drawingml/2006/table">
            <a:tbl>
              <a:tblPr/>
              <a:tblGrid>
                <a:gridCol w="1537335">
                  <a:extLst>
                    <a:ext uri="{9D8B030D-6E8A-4147-A177-3AD203B41FA5}">
                      <a16:colId xmlns:a16="http://schemas.microsoft.com/office/drawing/2014/main" val="20000"/>
                    </a:ext>
                  </a:extLst>
                </a:gridCol>
                <a:gridCol w="153924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3272155">
                  <a:extLst>
                    <a:ext uri="{9D8B030D-6E8A-4147-A177-3AD203B41FA5}">
                      <a16:colId xmlns:a16="http://schemas.microsoft.com/office/drawing/2014/main" val="20003"/>
                    </a:ext>
                  </a:extLst>
                </a:gridCol>
              </a:tblGrid>
              <a:tr h="572770">
                <a:tc>
                  <a:txBody>
                    <a:bodyPr/>
                    <a:lstStyle/>
                    <a:p>
                      <a:pPr algn="ctr"/>
                      <a:r>
                        <a:rPr lang="zh-CN" altLang="en-US" sz="1800" b="1">
                          <a:solidFill>
                            <a:srgbClr val="000000"/>
                          </a:solidFill>
                          <a:latin typeface="微软雅黑" panose="020B0503020204020204" charset="-122"/>
                          <a:ea typeface="微软雅黑" panose="020B0503020204020204" charset="-122"/>
                        </a:rPr>
                        <a:t>方向</a:t>
                      </a:r>
                    </a:p>
                  </a:txBody>
                  <a:tcPr marL="0" marR="0" marT="0" marB="0" anchor="ctr">
                    <a:lnL w="6350" cap="flat" cmpd="sng">
                      <a:solidFill>
                        <a:srgbClr val="A7A7A7"/>
                      </a:solidFill>
                      <a:prstDash val="solid"/>
                      <a:headEnd type="none" w="med" len="med"/>
                      <a:tailEnd type="none" w="med" len="med"/>
                    </a:lnL>
                    <a:lnR w="6350" cap="flat" cmpd="sng">
                      <a:solidFill>
                        <a:srgbClr val="A7A7A7"/>
                      </a:solidFill>
                      <a:prstDash val="solid"/>
                      <a:headEnd type="none" w="med" len="med"/>
                      <a:tailEnd type="none" w="med" len="med"/>
                    </a:lnR>
                    <a:lnT w="6350" cap="flat" cmpd="sng">
                      <a:solidFill>
                        <a:srgbClr val="A7A7A7"/>
                      </a:solidFill>
                      <a:prstDash val="solid"/>
                      <a:headEnd type="none" w="med" len="med"/>
                      <a:tailEnd type="none" w="med" len="med"/>
                    </a:lnT>
                    <a:lnB w="6350" cap="flat" cmpd="sng">
                      <a:solidFill>
                        <a:srgbClr val="A7A7A7"/>
                      </a:solidFill>
                      <a:prstDash val="solid"/>
                      <a:headEnd type="none" w="med" len="med"/>
                      <a:tailEnd type="none" w="med" len="med"/>
                    </a:lnB>
                    <a:noFill/>
                  </a:tcPr>
                </a:tc>
                <a:tc>
                  <a:txBody>
                    <a:bodyPr/>
                    <a:lstStyle/>
                    <a:p>
                      <a:pPr algn="ctr"/>
                      <a:r>
                        <a:rPr lang="zh-CN" altLang="en-US" sz="1800" b="1">
                          <a:solidFill>
                            <a:srgbClr val="000000"/>
                          </a:solidFill>
                          <a:latin typeface="微软雅黑" panose="020B0503020204020204" charset="-122"/>
                          <a:ea typeface="微软雅黑" panose="020B0503020204020204" charset="-122"/>
                        </a:rPr>
                        <a:t>面向问题</a:t>
                      </a:r>
                    </a:p>
                  </a:txBody>
                  <a:tcPr marL="0" marR="0" marT="0" marB="0" anchor="ctr">
                    <a:lnL w="6350" cap="flat" cmpd="sng">
                      <a:solidFill>
                        <a:srgbClr val="A7A7A7"/>
                      </a:solidFill>
                      <a:prstDash val="solid"/>
                      <a:headEnd type="none" w="med" len="med"/>
                      <a:tailEnd type="none" w="med" len="med"/>
                    </a:lnL>
                    <a:lnR w="6350" cap="flat" cmpd="sng">
                      <a:solidFill>
                        <a:srgbClr val="A7A7A7"/>
                      </a:solidFill>
                      <a:prstDash val="solid"/>
                      <a:headEnd type="none" w="med" len="med"/>
                      <a:tailEnd type="none" w="med" len="med"/>
                    </a:lnR>
                    <a:lnT w="6350" cap="flat" cmpd="sng">
                      <a:solidFill>
                        <a:srgbClr val="A7A7A7"/>
                      </a:solidFill>
                      <a:prstDash val="solid"/>
                      <a:headEnd type="none" w="med" len="med"/>
                      <a:tailEnd type="none" w="med" len="med"/>
                    </a:lnT>
                    <a:lnB w="6350" cap="flat" cmpd="sng">
                      <a:solidFill>
                        <a:srgbClr val="A7A7A7"/>
                      </a:solidFill>
                      <a:prstDash val="solid"/>
                      <a:headEnd type="none" w="med" len="med"/>
                      <a:tailEnd type="none" w="med" len="med"/>
                    </a:lnB>
                    <a:noFill/>
                  </a:tcPr>
                </a:tc>
                <a:tc>
                  <a:txBody>
                    <a:bodyPr/>
                    <a:lstStyle/>
                    <a:p>
                      <a:pPr algn="ctr"/>
                      <a:r>
                        <a:rPr lang="zh-CN" altLang="en-US" sz="1800" b="1">
                          <a:solidFill>
                            <a:srgbClr val="000000"/>
                          </a:solidFill>
                          <a:latin typeface="微软雅黑" panose="020B0503020204020204" charset="-122"/>
                          <a:ea typeface="微软雅黑" panose="020B0503020204020204" charset="-122"/>
                        </a:rPr>
                        <a:t>基础理论</a:t>
                      </a:r>
                    </a:p>
                  </a:txBody>
                  <a:tcPr marL="0" marR="0" marT="0" marB="0" anchor="ctr">
                    <a:lnL w="6350" cap="flat" cmpd="sng">
                      <a:solidFill>
                        <a:srgbClr val="A7A7A7"/>
                      </a:solidFill>
                      <a:prstDash val="solid"/>
                      <a:headEnd type="none" w="med" len="med"/>
                      <a:tailEnd type="none" w="med" len="med"/>
                    </a:lnL>
                    <a:lnR w="6350" cap="flat" cmpd="sng">
                      <a:solidFill>
                        <a:srgbClr val="A7A7A7"/>
                      </a:solidFill>
                      <a:prstDash val="solid"/>
                      <a:headEnd type="none" w="med" len="med"/>
                      <a:tailEnd type="none" w="med" len="med"/>
                    </a:lnR>
                    <a:lnT w="6350" cap="flat" cmpd="sng">
                      <a:solidFill>
                        <a:srgbClr val="A7A7A7"/>
                      </a:solidFill>
                      <a:prstDash val="solid"/>
                      <a:headEnd type="none" w="med" len="med"/>
                      <a:tailEnd type="none" w="med" len="med"/>
                    </a:lnT>
                    <a:lnB w="6350" cap="flat" cmpd="sng">
                      <a:solidFill>
                        <a:srgbClr val="A7A7A7"/>
                      </a:solidFill>
                      <a:prstDash val="solid"/>
                      <a:headEnd type="none" w="med" len="med"/>
                      <a:tailEnd type="none" w="med" len="med"/>
                    </a:lnB>
                    <a:noFill/>
                  </a:tcPr>
                </a:tc>
                <a:tc>
                  <a:txBody>
                    <a:bodyPr/>
                    <a:lstStyle/>
                    <a:p>
                      <a:pPr algn="ctr"/>
                      <a:r>
                        <a:rPr lang="zh-CN" altLang="en-US" sz="1800" b="1">
                          <a:solidFill>
                            <a:srgbClr val="000000"/>
                          </a:solidFill>
                          <a:latin typeface="微软雅黑" panose="020B0503020204020204" charset="-122"/>
                          <a:ea typeface="微软雅黑" panose="020B0503020204020204" charset="-122"/>
                        </a:rPr>
                        <a:t>潜在课题</a:t>
                      </a:r>
                    </a:p>
                  </a:txBody>
                  <a:tcPr marL="0" marR="0" marT="0" marB="0" anchor="ctr">
                    <a:lnL w="6350" cap="flat" cmpd="sng">
                      <a:solidFill>
                        <a:srgbClr val="A7A7A7"/>
                      </a:solidFill>
                      <a:prstDash val="solid"/>
                      <a:headEnd type="none" w="med" len="med"/>
                      <a:tailEnd type="none" w="med" len="med"/>
                    </a:lnL>
                    <a:lnR w="6350" cap="flat" cmpd="sng">
                      <a:solidFill>
                        <a:srgbClr val="A7A7A7"/>
                      </a:solidFill>
                      <a:prstDash val="solid"/>
                      <a:headEnd type="none" w="med" len="med"/>
                      <a:tailEnd type="none" w="med" len="med"/>
                    </a:lnR>
                    <a:lnT w="6350" cap="flat" cmpd="sng">
                      <a:solidFill>
                        <a:srgbClr val="A7A7A7"/>
                      </a:solidFill>
                      <a:prstDash val="solid"/>
                      <a:headEnd type="none" w="med" len="med"/>
                      <a:tailEnd type="none" w="med" len="med"/>
                    </a:lnT>
                    <a:lnB w="6350" cap="flat" cmpd="sng">
                      <a:solidFill>
                        <a:srgbClr val="A7A7A7"/>
                      </a:solidFill>
                      <a:prstDash val="solid"/>
                      <a:headEnd type="none" w="med" len="med"/>
                      <a:tailEnd type="none" w="med" len="med"/>
                    </a:lnB>
                    <a:noFill/>
                  </a:tcPr>
                </a:tc>
                <a:extLst>
                  <a:ext uri="{0D108BD9-81ED-4DB2-BD59-A6C34878D82A}">
                    <a16:rowId xmlns:a16="http://schemas.microsoft.com/office/drawing/2014/main" val="10000"/>
                  </a:ext>
                </a:extLst>
              </a:tr>
              <a:tr h="1444625">
                <a:tc>
                  <a:txBody>
                    <a:bodyPr/>
                    <a:lstStyle/>
                    <a:p>
                      <a:pPr algn="ctr"/>
                      <a:r>
                        <a:rPr lang="en-US" altLang="zh-CN" sz="1400" b="1">
                          <a:solidFill>
                            <a:srgbClr val="000000"/>
                          </a:solidFill>
                          <a:latin typeface="微软雅黑" panose="020B0503020204020204" charset="-122"/>
                          <a:ea typeface="微软雅黑" panose="020B0503020204020204" charset="-122"/>
                        </a:rPr>
                        <a:t>A.</a:t>
                      </a:r>
                      <a:r>
                        <a:rPr lang="zh-CN" altLang="en-US" sz="1400" b="1">
                          <a:solidFill>
                            <a:srgbClr val="000000"/>
                          </a:solidFill>
                          <a:latin typeface="微软雅黑" panose="020B0503020204020204" charset="-122"/>
                          <a:ea typeface="微软雅黑" panose="020B0503020204020204" charset="-122"/>
                        </a:rPr>
                        <a:t>焊缝识别与定位</a:t>
                      </a:r>
                    </a:p>
                  </a:txBody>
                  <a:tcPr marL="0" marR="0" marT="0" marB="0" anchor="ctr">
                    <a:lnL w="6350" cap="flat" cmpd="sng">
                      <a:solidFill>
                        <a:srgbClr val="A7A7A7"/>
                      </a:solidFill>
                      <a:prstDash val="solid"/>
                      <a:headEnd type="none" w="med" len="med"/>
                      <a:tailEnd type="none" w="med" len="med"/>
                    </a:lnL>
                    <a:lnR w="6350" cap="flat" cmpd="sng">
                      <a:solidFill>
                        <a:srgbClr val="A7A7A7"/>
                      </a:solidFill>
                      <a:prstDash val="solid"/>
                      <a:headEnd type="none" w="med" len="med"/>
                      <a:tailEnd type="none" w="med" len="med"/>
                    </a:lnR>
                    <a:lnT w="6350" cap="flat" cmpd="sng">
                      <a:solidFill>
                        <a:srgbClr val="A7A7A7"/>
                      </a:solidFill>
                      <a:prstDash val="solid"/>
                      <a:headEnd type="none" w="med" len="med"/>
                      <a:tailEnd type="none" w="med" len="med"/>
                    </a:lnT>
                    <a:lnB w="6350" cap="flat" cmpd="sng">
                      <a:solidFill>
                        <a:srgbClr val="A7A7A7"/>
                      </a:solidFill>
                      <a:prstDash val="solid"/>
                      <a:headEnd type="none" w="med" len="med"/>
                      <a:tailEnd type="none" w="med" len="med"/>
                    </a:lnB>
                    <a:noFill/>
                  </a:tcPr>
                </a:tc>
                <a:tc>
                  <a:txBody>
                    <a:bodyPr/>
                    <a:lstStyle/>
                    <a:p>
                      <a:pPr indent="0" algn="ctr" fontAlgn="auto">
                        <a:lnSpc>
                          <a:spcPct val="150000"/>
                        </a:lnSpc>
                      </a:pPr>
                      <a:r>
                        <a:rPr lang="en-US" altLang="zh-CN" sz="1000" b="1">
                          <a:solidFill>
                            <a:srgbClr val="000000"/>
                          </a:solidFill>
                          <a:latin typeface="微软雅黑" panose="020B0503020204020204" charset="-122"/>
                          <a:ea typeface="微软雅黑" panose="020B0503020204020204" charset="-122"/>
                        </a:rPr>
                        <a:t>A1</a:t>
                      </a:r>
                      <a:r>
                        <a:rPr lang="zh-CN" altLang="en-US" sz="1000">
                          <a:solidFill>
                            <a:srgbClr val="000000"/>
                          </a:solidFill>
                          <a:latin typeface="微软雅黑" panose="020B0503020204020204" charset="-122"/>
                          <a:ea typeface="微软雅黑" panose="020B0503020204020204" charset="-122"/>
                        </a:rPr>
                        <a:t>：</a:t>
                      </a:r>
                      <a:r>
                        <a:rPr lang="zh-CN" altLang="en-US" sz="1000" u="sng">
                          <a:solidFill>
                            <a:srgbClr val="000000"/>
                          </a:solidFill>
                          <a:latin typeface="微软雅黑" panose="020B0503020204020204" charset="-122"/>
                          <a:ea typeface="微软雅黑" panose="020B0503020204020204" charset="-122"/>
                        </a:rPr>
                        <a:t>焊前大尺度结构焊缝定位</a:t>
                      </a:r>
                      <a:endParaRPr lang="zh-CN" altLang="en-US" sz="1000">
                        <a:solidFill>
                          <a:srgbClr val="000000"/>
                        </a:solidFill>
                        <a:latin typeface="微软雅黑" panose="020B0503020204020204" charset="-122"/>
                        <a:ea typeface="微软雅黑" panose="020B0503020204020204" charset="-122"/>
                      </a:endParaRPr>
                    </a:p>
                    <a:p>
                      <a:pPr indent="0" algn="ctr" fontAlgn="auto">
                        <a:lnSpc>
                          <a:spcPct val="150000"/>
                        </a:lnSpc>
                      </a:pPr>
                      <a:r>
                        <a:rPr lang="en-US" altLang="zh-CN" sz="1000" b="1">
                          <a:solidFill>
                            <a:srgbClr val="000000"/>
                          </a:solidFill>
                          <a:latin typeface="微软雅黑" panose="020B0503020204020204" charset="-122"/>
                          <a:ea typeface="微软雅黑" panose="020B0503020204020204" charset="-122"/>
                        </a:rPr>
                        <a:t>A2</a:t>
                      </a:r>
                      <a:r>
                        <a:rPr lang="zh-CN" altLang="en-US" sz="1000">
                          <a:solidFill>
                            <a:srgbClr val="000000"/>
                          </a:solidFill>
                          <a:latin typeface="微软雅黑" panose="020B0503020204020204" charset="-122"/>
                          <a:ea typeface="微软雅黑" panose="020B0503020204020204" charset="-122"/>
                        </a:rPr>
                        <a:t>：</a:t>
                      </a:r>
                      <a:r>
                        <a:rPr lang="zh-CN" altLang="en-US" sz="1000" u="sng">
                          <a:solidFill>
                            <a:srgbClr val="000000"/>
                          </a:solidFill>
                          <a:latin typeface="微软雅黑" panose="020B0503020204020204" charset="-122"/>
                          <a:ea typeface="微软雅黑" panose="020B0503020204020204" charset="-122"/>
                        </a:rPr>
                        <a:t>焊中多干扰（焊接弧光、烟尘、反光）焊缝定位</a:t>
                      </a:r>
                    </a:p>
                  </a:txBody>
                  <a:tcPr marL="0" marR="0" marT="0" marB="0" anchor="ctr">
                    <a:lnL w="6350" cap="flat" cmpd="sng">
                      <a:solidFill>
                        <a:srgbClr val="A7A7A7"/>
                      </a:solidFill>
                      <a:prstDash val="solid"/>
                      <a:headEnd type="none" w="med" len="med"/>
                      <a:tailEnd type="none" w="med" len="med"/>
                    </a:lnL>
                    <a:lnR w="6350" cap="flat" cmpd="sng">
                      <a:solidFill>
                        <a:srgbClr val="A7A7A7"/>
                      </a:solidFill>
                      <a:prstDash val="solid"/>
                      <a:headEnd type="none" w="med" len="med"/>
                      <a:tailEnd type="none" w="med" len="med"/>
                    </a:lnR>
                    <a:lnT w="6350" cap="flat" cmpd="sng">
                      <a:solidFill>
                        <a:srgbClr val="A7A7A7"/>
                      </a:solidFill>
                      <a:prstDash val="solid"/>
                      <a:headEnd type="none" w="med" len="med"/>
                      <a:tailEnd type="none" w="med" len="med"/>
                    </a:lnT>
                    <a:lnB w="6350" cap="flat" cmpd="sng">
                      <a:solidFill>
                        <a:srgbClr val="A7A7A7"/>
                      </a:solidFill>
                      <a:prstDash val="solid"/>
                      <a:headEnd type="none" w="med" len="med"/>
                      <a:tailEnd type="none" w="med" len="med"/>
                    </a:lnB>
                    <a:noFill/>
                  </a:tcPr>
                </a:tc>
                <a:tc>
                  <a:txBody>
                    <a:bodyPr/>
                    <a:lstStyle/>
                    <a:p>
                      <a:pPr indent="0" algn="ctr" fontAlgn="auto">
                        <a:lnSpc>
                          <a:spcPct val="150000"/>
                        </a:lnSpc>
                      </a:pPr>
                      <a:r>
                        <a:rPr lang="en-US" altLang="zh-CN" sz="1000">
                          <a:solidFill>
                            <a:srgbClr val="000000"/>
                          </a:solidFill>
                          <a:latin typeface="微软雅黑" panose="020B0503020204020204" charset="-122"/>
                          <a:ea typeface="微软雅黑" panose="020B0503020204020204" charset="-122"/>
                        </a:rPr>
                        <a:t>1.</a:t>
                      </a:r>
                      <a:r>
                        <a:rPr lang="zh-CN" altLang="en-US" sz="1000">
                          <a:solidFill>
                            <a:srgbClr val="000000"/>
                          </a:solidFill>
                          <a:latin typeface="微软雅黑" panose="020B0503020204020204" charset="-122"/>
                          <a:ea typeface="微软雅黑" panose="020B0503020204020204" charset="-122"/>
                        </a:rPr>
                        <a:t>计算机视觉与点云几何</a:t>
                      </a:r>
                    </a:p>
                    <a:p>
                      <a:pPr indent="0" algn="ctr" fontAlgn="auto">
                        <a:lnSpc>
                          <a:spcPct val="150000"/>
                        </a:lnSpc>
                      </a:pPr>
                      <a:r>
                        <a:rPr lang="en-US" altLang="zh-CN" sz="1000">
                          <a:solidFill>
                            <a:srgbClr val="000000"/>
                          </a:solidFill>
                          <a:latin typeface="微软雅黑" panose="020B0503020204020204" charset="-122"/>
                          <a:ea typeface="微软雅黑" panose="020B0503020204020204" charset="-122"/>
                        </a:rPr>
                        <a:t>2.</a:t>
                      </a:r>
                      <a:r>
                        <a:rPr lang="zh-CN" altLang="en-US" sz="1000">
                          <a:solidFill>
                            <a:srgbClr val="000000"/>
                          </a:solidFill>
                          <a:latin typeface="微软雅黑" panose="020B0503020204020204" charset="-122"/>
                          <a:ea typeface="微软雅黑" panose="020B0503020204020204" charset="-122"/>
                        </a:rPr>
                        <a:t>深度学习</a:t>
                      </a:r>
                    </a:p>
                    <a:p>
                      <a:pPr indent="0" algn="ctr" fontAlgn="auto">
                        <a:lnSpc>
                          <a:spcPct val="150000"/>
                        </a:lnSpc>
                      </a:pPr>
                      <a:r>
                        <a:rPr lang="en-US" altLang="zh-CN" sz="1000">
                          <a:solidFill>
                            <a:srgbClr val="000000"/>
                          </a:solidFill>
                          <a:latin typeface="微软雅黑" panose="020B0503020204020204" charset="-122"/>
                          <a:ea typeface="微软雅黑" panose="020B0503020204020204" charset="-122"/>
                        </a:rPr>
                        <a:t>3.</a:t>
                      </a:r>
                      <a:r>
                        <a:rPr lang="zh-CN" altLang="en-US" sz="1000">
                          <a:solidFill>
                            <a:srgbClr val="000000"/>
                          </a:solidFill>
                          <a:latin typeface="微软雅黑" panose="020B0503020204020204" charset="-122"/>
                          <a:ea typeface="微软雅黑" panose="020B0503020204020204" charset="-122"/>
                        </a:rPr>
                        <a:t>激光</a:t>
                      </a:r>
                      <a:r>
                        <a:rPr lang="en-US" altLang="zh-CN" sz="1000">
                          <a:solidFill>
                            <a:srgbClr val="000000"/>
                          </a:solidFill>
                          <a:latin typeface="微软雅黑" panose="020B0503020204020204" charset="-122"/>
                          <a:ea typeface="微软雅黑" panose="020B0503020204020204" charset="-122"/>
                        </a:rPr>
                        <a:t>/</a:t>
                      </a:r>
                      <a:r>
                        <a:rPr lang="zh-CN" altLang="en-US" sz="1000">
                          <a:solidFill>
                            <a:srgbClr val="000000"/>
                          </a:solidFill>
                          <a:latin typeface="微软雅黑" panose="020B0503020204020204" charset="-122"/>
                          <a:ea typeface="微软雅黑" panose="020B0503020204020204" charset="-122"/>
                        </a:rPr>
                        <a:t>结构光测量原理</a:t>
                      </a:r>
                    </a:p>
                    <a:p>
                      <a:pPr indent="0" algn="ctr" fontAlgn="auto">
                        <a:lnSpc>
                          <a:spcPct val="150000"/>
                        </a:lnSpc>
                      </a:pPr>
                      <a:r>
                        <a:rPr lang="en-US" altLang="zh-CN" sz="1000">
                          <a:solidFill>
                            <a:srgbClr val="000000"/>
                          </a:solidFill>
                          <a:latin typeface="微软雅黑" panose="020B0503020204020204" charset="-122"/>
                          <a:ea typeface="微软雅黑" panose="020B0503020204020204" charset="-122"/>
                        </a:rPr>
                        <a:t>4.</a:t>
                      </a:r>
                      <a:r>
                        <a:rPr lang="zh-CN" altLang="en-US" sz="1000">
                          <a:solidFill>
                            <a:srgbClr val="000000"/>
                          </a:solidFill>
                          <a:latin typeface="微软雅黑" panose="020B0503020204020204" charset="-122"/>
                          <a:ea typeface="微软雅黑" panose="020B0503020204020204" charset="-122"/>
                        </a:rPr>
                        <a:t>误差传播与不确定性估计</a:t>
                      </a:r>
                    </a:p>
                    <a:p>
                      <a:pPr algn="ctr"/>
                      <a:endParaRPr lang="zh-CN" altLang="en-US" sz="1000">
                        <a:solidFill>
                          <a:srgbClr val="000000"/>
                        </a:solidFill>
                        <a:latin typeface="微软雅黑" panose="020B0503020204020204" charset="-122"/>
                        <a:ea typeface="微软雅黑" panose="020B0503020204020204" charset="-122"/>
                      </a:endParaRPr>
                    </a:p>
                  </a:txBody>
                  <a:tcPr marL="0" marR="0" marT="0" marB="0" anchor="ctr">
                    <a:lnL w="6350" cap="flat" cmpd="sng">
                      <a:solidFill>
                        <a:srgbClr val="A7A7A7"/>
                      </a:solidFill>
                      <a:prstDash val="solid"/>
                      <a:headEnd type="none" w="med" len="med"/>
                      <a:tailEnd type="none" w="med" len="med"/>
                    </a:lnL>
                    <a:lnR w="6350" cap="flat" cmpd="sng">
                      <a:solidFill>
                        <a:srgbClr val="A7A7A7"/>
                      </a:solidFill>
                      <a:prstDash val="solid"/>
                      <a:headEnd type="none" w="med" len="med"/>
                      <a:tailEnd type="none" w="med" len="med"/>
                    </a:lnR>
                    <a:lnT w="6350" cap="flat" cmpd="sng">
                      <a:solidFill>
                        <a:srgbClr val="A7A7A7"/>
                      </a:solidFill>
                      <a:prstDash val="solid"/>
                      <a:headEnd type="none" w="med" len="med"/>
                      <a:tailEnd type="none" w="med" len="med"/>
                    </a:lnT>
                    <a:lnB w="6350" cap="flat" cmpd="sng">
                      <a:solidFill>
                        <a:srgbClr val="A7A7A7"/>
                      </a:solidFill>
                      <a:prstDash val="solid"/>
                      <a:headEnd type="none" w="med" len="med"/>
                      <a:tailEnd type="none" w="med" len="med"/>
                    </a:lnB>
                    <a:noFill/>
                  </a:tcPr>
                </a:tc>
                <a:tc rowSpan="3">
                  <a:txBody>
                    <a:bodyPr/>
                    <a:lstStyle/>
                    <a:p>
                      <a:pPr indent="0" algn="ctr" fontAlgn="auto">
                        <a:lnSpc>
                          <a:spcPct val="150000"/>
                        </a:lnSpc>
                      </a:pPr>
                      <a:r>
                        <a:rPr lang="en-US" altLang="zh-CN" sz="700" b="1">
                          <a:solidFill>
                            <a:srgbClr val="000000"/>
                          </a:solidFill>
                          <a:latin typeface="微软雅黑" panose="020B0503020204020204" charset="-122"/>
                          <a:ea typeface="微软雅黑" panose="020B0503020204020204" charset="-122"/>
                        </a:rPr>
                        <a:t>- </a:t>
                      </a:r>
                      <a:r>
                        <a:rPr lang="en-US" altLang="zh-CN" sz="1000" b="1">
                          <a:solidFill>
                            <a:srgbClr val="000000"/>
                          </a:solidFill>
                          <a:latin typeface="微软雅黑" panose="020B0503020204020204" charset="-122"/>
                          <a:ea typeface="微软雅黑" panose="020B0503020204020204" charset="-122"/>
                        </a:rPr>
                        <a:t>A2+C1+C2</a:t>
                      </a:r>
                      <a:r>
                        <a:rPr lang="zh-CN" altLang="en-US" sz="1000" b="1">
                          <a:solidFill>
                            <a:srgbClr val="000000"/>
                          </a:solidFill>
                          <a:latin typeface="微软雅黑" panose="020B0503020204020204" charset="-122"/>
                          <a:ea typeface="微软雅黑" panose="020B0503020204020204" charset="-122"/>
                        </a:rPr>
                        <a:t>：</a:t>
                      </a:r>
                      <a:r>
                        <a:rPr lang="zh-CN" altLang="en-US" sz="1000" b="0">
                          <a:solidFill>
                            <a:srgbClr val="000000"/>
                          </a:solidFill>
                          <a:latin typeface="微软雅黑" panose="020B0503020204020204" charset="-122"/>
                          <a:ea typeface="微软雅黑" panose="020B0503020204020204" charset="-122"/>
                        </a:rPr>
                        <a:t>狭小空间焊接要考虑设备安全、设备可达性、焊接质量。进行运动学校准，优化超冗余机械臂的轨迹（时间最短、冲击最小、无干涉），实时补偿热变形与装配误差。创新点在于</a:t>
                      </a:r>
                      <a:r>
                        <a:rPr lang="en-US" altLang="zh-CN" sz="1000" b="0">
                          <a:solidFill>
                            <a:srgbClr val="000000"/>
                          </a:solidFill>
                          <a:latin typeface="微软雅黑" panose="020B0503020204020204" charset="-122"/>
                          <a:ea typeface="微软雅黑" panose="020B0503020204020204" charset="-122"/>
                        </a:rPr>
                        <a:t>P3R6</a:t>
                      </a:r>
                      <a:r>
                        <a:rPr lang="zh-CN" altLang="en-US" sz="1000" b="0">
                          <a:solidFill>
                            <a:srgbClr val="000000"/>
                          </a:solidFill>
                          <a:latin typeface="微软雅黑" panose="020B0503020204020204" charset="-122"/>
                          <a:ea typeface="微软雅黑" panose="020B0503020204020204" charset="-122"/>
                        </a:rPr>
                        <a:t>机构，涉及优化理论、控制理论、计算机视觉、深度学习、机构学。</a:t>
                      </a:r>
                    </a:p>
                    <a:p>
                      <a:pPr indent="0" algn="ctr" fontAlgn="auto">
                        <a:lnSpc>
                          <a:spcPct val="150000"/>
                        </a:lnSpc>
                      </a:pPr>
                      <a:endParaRPr lang="zh-CN" altLang="en-US" sz="1000" b="1">
                        <a:solidFill>
                          <a:srgbClr val="000000"/>
                        </a:solidFill>
                        <a:latin typeface="微软雅黑" panose="020B0503020204020204" charset="-122"/>
                        <a:ea typeface="微软雅黑" panose="020B0503020204020204" charset="-122"/>
                      </a:endParaRPr>
                    </a:p>
                    <a:p>
                      <a:pPr indent="0" algn="ctr" fontAlgn="auto">
                        <a:lnSpc>
                          <a:spcPct val="150000"/>
                        </a:lnSpc>
                      </a:pPr>
                      <a:r>
                        <a:rPr lang="en-US" altLang="zh-CN" sz="1000" b="1">
                          <a:solidFill>
                            <a:srgbClr val="000000"/>
                          </a:solidFill>
                          <a:latin typeface="微软雅黑" panose="020B0503020204020204" charset="-122"/>
                          <a:ea typeface="微软雅黑" panose="020B0503020204020204" charset="-122"/>
                        </a:rPr>
                        <a:t>- C1+</a:t>
                      </a:r>
                      <a:r>
                        <a:rPr lang="zh-CN" altLang="en-US" sz="1000" b="1">
                          <a:solidFill>
                            <a:srgbClr val="000000"/>
                          </a:solidFill>
                          <a:latin typeface="微软雅黑" panose="020B0503020204020204" charset="-122"/>
                          <a:ea typeface="微软雅黑" panose="020B0503020204020204" charset="-122"/>
                        </a:rPr>
                        <a:t>新机构：</a:t>
                      </a:r>
                      <a:r>
                        <a:rPr lang="zh-CN" altLang="en-US" sz="1000" b="0">
                          <a:solidFill>
                            <a:srgbClr val="000000"/>
                          </a:solidFill>
                          <a:latin typeface="微软雅黑" panose="020B0503020204020204" charset="-122"/>
                          <a:ea typeface="微软雅黑" panose="020B0503020204020204" charset="-122"/>
                        </a:rPr>
                        <a:t>狭小空间焊接要考虑设备安全、设备可达性、焊接质量。使用新的机构、分析机构的运动学规划。涉及机构学、优化理论。</a:t>
                      </a:r>
                      <a:endParaRPr lang="zh-CN" altLang="en-US" sz="1000" b="1">
                        <a:solidFill>
                          <a:srgbClr val="000000"/>
                        </a:solidFill>
                        <a:latin typeface="微软雅黑" panose="020B0503020204020204" charset="-122"/>
                        <a:ea typeface="微软雅黑" panose="020B0503020204020204" charset="-122"/>
                      </a:endParaRPr>
                    </a:p>
                    <a:p>
                      <a:pPr indent="0" algn="ctr" fontAlgn="auto">
                        <a:lnSpc>
                          <a:spcPct val="150000"/>
                        </a:lnSpc>
                      </a:pPr>
                      <a:endParaRPr lang="zh-CN" altLang="en-US" sz="1000" b="1">
                        <a:solidFill>
                          <a:srgbClr val="000000"/>
                        </a:solidFill>
                        <a:latin typeface="微软雅黑" panose="020B0503020204020204" charset="-122"/>
                        <a:ea typeface="微软雅黑" panose="020B0503020204020204" charset="-122"/>
                      </a:endParaRPr>
                    </a:p>
                    <a:p>
                      <a:pPr indent="0" algn="ctr" fontAlgn="auto">
                        <a:lnSpc>
                          <a:spcPct val="150000"/>
                        </a:lnSpc>
                      </a:pPr>
                      <a:r>
                        <a:rPr lang="en-US" altLang="zh-CN" sz="1000" b="1">
                          <a:solidFill>
                            <a:srgbClr val="000000"/>
                          </a:solidFill>
                          <a:latin typeface="微软雅黑" panose="020B0503020204020204" charset="-122"/>
                          <a:ea typeface="微软雅黑" panose="020B0503020204020204" charset="-122"/>
                        </a:rPr>
                        <a:t>- B1</a:t>
                      </a:r>
                      <a:r>
                        <a:rPr lang="zh-CN" altLang="en-US" sz="1000" b="1">
                          <a:solidFill>
                            <a:srgbClr val="000000"/>
                          </a:solidFill>
                          <a:latin typeface="微软雅黑" panose="020B0503020204020204" charset="-122"/>
                          <a:ea typeface="微软雅黑" panose="020B0503020204020204" charset="-122"/>
                        </a:rPr>
                        <a:t>：</a:t>
                      </a:r>
                      <a:r>
                        <a:rPr lang="zh-CN" altLang="en-US" sz="1000" b="0">
                          <a:solidFill>
                            <a:srgbClr val="000000"/>
                          </a:solidFill>
                          <a:latin typeface="微软雅黑" panose="020B0503020204020204" charset="-122"/>
                          <a:ea typeface="微软雅黑" panose="020B0503020204020204" charset="-122"/>
                        </a:rPr>
                        <a:t>中组立涉及多条焊缝的焊接，焊接顺序影响加工质量，需要最优化一个焊接序列，使得整个中组立的热变形最小。热变形</a:t>
                      </a:r>
                      <a:r>
                        <a:rPr lang="en-US" altLang="zh-CN" sz="1000" b="0">
                          <a:solidFill>
                            <a:srgbClr val="000000"/>
                          </a:solidFill>
                          <a:latin typeface="微软雅黑" panose="020B0503020204020204" charset="-122"/>
                          <a:ea typeface="微软雅黑" panose="020B0503020204020204" charset="-122"/>
                        </a:rPr>
                        <a:t>-</a:t>
                      </a:r>
                      <a:r>
                        <a:rPr lang="zh-CN" altLang="en-US" sz="1000" b="0">
                          <a:solidFill>
                            <a:srgbClr val="000000"/>
                          </a:solidFill>
                          <a:latin typeface="微软雅黑" panose="020B0503020204020204" charset="-122"/>
                          <a:ea typeface="微软雅黑" panose="020B0503020204020204" charset="-122"/>
                        </a:rPr>
                        <a:t>仿真</a:t>
                      </a:r>
                      <a:r>
                        <a:rPr lang="en-US" altLang="zh-CN" sz="1000" b="0">
                          <a:solidFill>
                            <a:srgbClr val="000000"/>
                          </a:solidFill>
                          <a:latin typeface="微软雅黑" panose="020B0503020204020204" charset="-122"/>
                          <a:ea typeface="微软雅黑" panose="020B0503020204020204" charset="-122"/>
                        </a:rPr>
                        <a:t>-</a:t>
                      </a:r>
                      <a:r>
                        <a:rPr lang="zh-CN" altLang="en-US" sz="1000" b="0">
                          <a:solidFill>
                            <a:srgbClr val="000000"/>
                          </a:solidFill>
                          <a:latin typeface="微软雅黑" panose="020B0503020204020204" charset="-122"/>
                          <a:ea typeface="微软雅黑" panose="020B0503020204020204" charset="-122"/>
                        </a:rPr>
                        <a:t>实证闭环、高精度仿真</a:t>
                      </a:r>
                      <a:r>
                        <a:rPr lang="en-US" altLang="zh-CN" sz="1000" b="0">
                          <a:solidFill>
                            <a:srgbClr val="000000"/>
                          </a:solidFill>
                          <a:latin typeface="微软雅黑" panose="020B0503020204020204" charset="-122"/>
                          <a:ea typeface="微软雅黑" panose="020B0503020204020204" charset="-122"/>
                        </a:rPr>
                        <a:t>-</a:t>
                      </a:r>
                      <a:r>
                        <a:rPr lang="zh-CN" altLang="en-US" sz="1000" b="0">
                          <a:solidFill>
                            <a:srgbClr val="000000"/>
                          </a:solidFill>
                          <a:latin typeface="微软雅黑" panose="020B0503020204020204" charset="-122"/>
                          <a:ea typeface="微软雅黑" panose="020B0503020204020204" charset="-122"/>
                        </a:rPr>
                        <a:t>可微代理模型迁移、智能算法做序列优化。</a:t>
                      </a:r>
                      <a:endParaRPr lang="zh-CN" altLang="en-US" sz="1000" b="1">
                        <a:solidFill>
                          <a:srgbClr val="000000"/>
                        </a:solidFill>
                        <a:latin typeface="微软雅黑" panose="020B0503020204020204" charset="-122"/>
                        <a:ea typeface="微软雅黑" panose="020B0503020204020204" charset="-122"/>
                      </a:endParaRPr>
                    </a:p>
                    <a:p>
                      <a:pPr indent="0" algn="ctr" fontAlgn="auto">
                        <a:lnSpc>
                          <a:spcPct val="150000"/>
                        </a:lnSpc>
                      </a:pPr>
                      <a:endParaRPr lang="zh-CN" altLang="en-US" sz="1000" b="1">
                        <a:solidFill>
                          <a:srgbClr val="000000"/>
                        </a:solidFill>
                        <a:latin typeface="微软雅黑" panose="020B0503020204020204" charset="-122"/>
                        <a:ea typeface="微软雅黑" panose="020B0503020204020204" charset="-122"/>
                      </a:endParaRPr>
                    </a:p>
                    <a:p>
                      <a:pPr indent="0" algn="ctr" fontAlgn="auto">
                        <a:lnSpc>
                          <a:spcPct val="150000"/>
                        </a:lnSpc>
                      </a:pPr>
                      <a:r>
                        <a:rPr lang="en-US" altLang="zh-CN" sz="1000" b="1">
                          <a:solidFill>
                            <a:srgbClr val="000000"/>
                          </a:solidFill>
                          <a:latin typeface="微软雅黑" panose="020B0503020204020204" charset="-122"/>
                          <a:ea typeface="微软雅黑" panose="020B0503020204020204" charset="-122"/>
                        </a:rPr>
                        <a:t>- A1</a:t>
                      </a:r>
                      <a:r>
                        <a:rPr lang="zh-CN" altLang="en-US" sz="1000" b="1">
                          <a:solidFill>
                            <a:srgbClr val="000000"/>
                          </a:solidFill>
                          <a:latin typeface="微软雅黑" panose="020B0503020204020204" charset="-122"/>
                          <a:ea typeface="微软雅黑" panose="020B0503020204020204" charset="-122"/>
                        </a:rPr>
                        <a:t>：</a:t>
                      </a:r>
                      <a:r>
                        <a:rPr lang="zh-CN" altLang="en-US" sz="1000" b="0">
                          <a:solidFill>
                            <a:srgbClr val="000000"/>
                          </a:solidFill>
                          <a:latin typeface="微软雅黑" panose="020B0503020204020204" charset="-122"/>
                          <a:ea typeface="微软雅黑" panose="020B0503020204020204" charset="-122"/>
                        </a:rPr>
                        <a:t>针对大尺度结构的焊接，不可能完全扫描，结合船厂实际根据局部扫描结果获得焊缝精确位置，如何检验测量精度（投影、</a:t>
                      </a:r>
                      <a:r>
                        <a:rPr lang="en-US" altLang="zh-CN" sz="1000" b="0">
                          <a:solidFill>
                            <a:srgbClr val="000000"/>
                          </a:solidFill>
                          <a:latin typeface="微软雅黑" panose="020B0503020204020204" charset="-122"/>
                          <a:ea typeface="微软雅黑" panose="020B0503020204020204" charset="-122"/>
                        </a:rPr>
                        <a:t>AR</a:t>
                      </a:r>
                      <a:r>
                        <a:rPr lang="zh-CN" altLang="en-US" sz="1000" b="0">
                          <a:solidFill>
                            <a:srgbClr val="000000"/>
                          </a:solidFill>
                          <a:latin typeface="微软雅黑" panose="020B0503020204020204" charset="-122"/>
                          <a:ea typeface="微软雅黑" panose="020B0503020204020204" charset="-122"/>
                        </a:rPr>
                        <a:t>、无人机）</a:t>
                      </a:r>
                    </a:p>
                  </a:txBody>
                  <a:tcPr marL="0" marR="0" marT="0" marB="0" anchor="ctr">
                    <a:lnL w="6350" cap="flat" cmpd="sng">
                      <a:solidFill>
                        <a:srgbClr val="A7A7A7"/>
                      </a:solidFill>
                      <a:prstDash val="solid"/>
                      <a:headEnd type="none" w="med" len="med"/>
                      <a:tailEnd type="none" w="med" len="med"/>
                    </a:lnL>
                    <a:lnR w="6350" cap="flat" cmpd="sng">
                      <a:solidFill>
                        <a:srgbClr val="A7A7A7"/>
                      </a:solidFill>
                      <a:prstDash val="solid"/>
                      <a:headEnd type="none" w="med" len="med"/>
                      <a:tailEnd type="none" w="med" len="med"/>
                    </a:lnR>
                    <a:lnT w="6350" cap="flat" cmpd="sng">
                      <a:solidFill>
                        <a:srgbClr val="A7A7A7"/>
                      </a:solidFill>
                      <a:prstDash val="solid"/>
                      <a:headEnd type="none" w="med" len="med"/>
                      <a:tailEnd type="none" w="med" len="med"/>
                    </a:lnT>
                    <a:lnB w="6350" cap="flat" cmpd="sng">
                      <a:solidFill>
                        <a:srgbClr val="A7A7A7"/>
                      </a:solidFill>
                      <a:prstDash val="solid"/>
                      <a:headEnd type="none" w="med" len="med"/>
                      <a:tailEnd type="none" w="med" len="med"/>
                    </a:lnB>
                    <a:noFill/>
                  </a:tcPr>
                </a:tc>
                <a:extLst>
                  <a:ext uri="{0D108BD9-81ED-4DB2-BD59-A6C34878D82A}">
                    <a16:rowId xmlns:a16="http://schemas.microsoft.com/office/drawing/2014/main" val="10001"/>
                  </a:ext>
                </a:extLst>
              </a:tr>
              <a:tr h="1202690">
                <a:tc>
                  <a:txBody>
                    <a:bodyPr/>
                    <a:lstStyle/>
                    <a:p>
                      <a:pPr algn="ctr"/>
                      <a:r>
                        <a:rPr lang="en-US" altLang="zh-CN" sz="1400" b="1">
                          <a:solidFill>
                            <a:srgbClr val="000000"/>
                          </a:solidFill>
                          <a:latin typeface="微软雅黑" panose="020B0503020204020204" charset="-122"/>
                          <a:ea typeface="微软雅黑" panose="020B0503020204020204" charset="-122"/>
                        </a:rPr>
                        <a:t>B.</a:t>
                      </a:r>
                      <a:r>
                        <a:rPr lang="zh-CN" altLang="en-US" sz="1400" b="1">
                          <a:solidFill>
                            <a:srgbClr val="000000"/>
                          </a:solidFill>
                          <a:latin typeface="微软雅黑" panose="020B0503020204020204" charset="-122"/>
                          <a:ea typeface="微软雅黑" panose="020B0503020204020204" charset="-122"/>
                        </a:rPr>
                        <a:t>焊接工艺规划</a:t>
                      </a:r>
                    </a:p>
                  </a:txBody>
                  <a:tcPr marL="0" marR="0" marT="0" marB="0" anchor="ctr">
                    <a:lnL w="6350" cap="flat" cmpd="sng">
                      <a:solidFill>
                        <a:srgbClr val="A7A7A7"/>
                      </a:solidFill>
                      <a:prstDash val="solid"/>
                      <a:headEnd type="none" w="med" len="med"/>
                      <a:tailEnd type="none" w="med" len="med"/>
                    </a:lnL>
                    <a:lnR w="6350" cap="flat" cmpd="sng">
                      <a:solidFill>
                        <a:srgbClr val="A7A7A7"/>
                      </a:solidFill>
                      <a:prstDash val="solid"/>
                      <a:headEnd type="none" w="med" len="med"/>
                      <a:tailEnd type="none" w="med" len="med"/>
                    </a:lnR>
                    <a:lnT w="6350" cap="flat" cmpd="sng">
                      <a:solidFill>
                        <a:srgbClr val="A7A7A7"/>
                      </a:solidFill>
                      <a:prstDash val="solid"/>
                      <a:headEnd type="none" w="med" len="med"/>
                      <a:tailEnd type="none" w="med" len="med"/>
                    </a:lnT>
                    <a:lnB w="6350" cap="flat" cmpd="sng">
                      <a:solidFill>
                        <a:srgbClr val="A7A7A7"/>
                      </a:solidFill>
                      <a:prstDash val="solid"/>
                      <a:headEnd type="none" w="med" len="med"/>
                      <a:tailEnd type="none" w="med" len="med"/>
                    </a:lnB>
                    <a:noFill/>
                  </a:tcPr>
                </a:tc>
                <a:tc>
                  <a:txBody>
                    <a:bodyPr/>
                    <a:lstStyle/>
                    <a:p>
                      <a:pPr indent="0" algn="ctr" fontAlgn="auto">
                        <a:lnSpc>
                          <a:spcPct val="150000"/>
                        </a:lnSpc>
                      </a:pPr>
                      <a:r>
                        <a:rPr lang="en-US" altLang="zh-CN" sz="1000" b="1">
                          <a:solidFill>
                            <a:srgbClr val="000000"/>
                          </a:solidFill>
                          <a:latin typeface="微软雅黑" panose="020B0503020204020204" charset="-122"/>
                          <a:ea typeface="微软雅黑" panose="020B0503020204020204" charset="-122"/>
                        </a:rPr>
                        <a:t>B1</a:t>
                      </a:r>
                      <a:r>
                        <a:rPr lang="zh-CN" altLang="en-US" sz="1000">
                          <a:solidFill>
                            <a:srgbClr val="000000"/>
                          </a:solidFill>
                          <a:latin typeface="微软雅黑" panose="020B0503020204020204" charset="-122"/>
                          <a:ea typeface="微软雅黑" panose="020B0503020204020204" charset="-122"/>
                        </a:rPr>
                        <a:t>：</a:t>
                      </a:r>
                      <a:r>
                        <a:rPr lang="zh-CN" altLang="en-US" sz="1000" u="sng">
                          <a:solidFill>
                            <a:srgbClr val="000000"/>
                          </a:solidFill>
                          <a:latin typeface="微软雅黑" panose="020B0503020204020204" charset="-122"/>
                          <a:ea typeface="微软雅黑" panose="020B0503020204020204" charset="-122"/>
                        </a:rPr>
                        <a:t>确定使得热变形、残余应力最小的焊接顺序、道次以及走向</a:t>
                      </a:r>
                    </a:p>
                  </a:txBody>
                  <a:tcPr marL="0" marR="0" marT="0" marB="0" anchor="ctr">
                    <a:lnL w="6350" cap="flat" cmpd="sng">
                      <a:solidFill>
                        <a:srgbClr val="A7A7A7"/>
                      </a:solidFill>
                      <a:prstDash val="solid"/>
                      <a:headEnd type="none" w="med" len="med"/>
                      <a:tailEnd type="none" w="med" len="med"/>
                    </a:lnL>
                    <a:lnR w="6350" cap="flat" cmpd="sng">
                      <a:solidFill>
                        <a:srgbClr val="A7A7A7"/>
                      </a:solidFill>
                      <a:prstDash val="solid"/>
                      <a:headEnd type="none" w="med" len="med"/>
                      <a:tailEnd type="none" w="med" len="med"/>
                    </a:lnR>
                    <a:lnT w="6350" cap="flat" cmpd="sng">
                      <a:solidFill>
                        <a:srgbClr val="A7A7A7"/>
                      </a:solidFill>
                      <a:prstDash val="solid"/>
                      <a:headEnd type="none" w="med" len="med"/>
                      <a:tailEnd type="none" w="med" len="med"/>
                    </a:lnT>
                    <a:lnB w="6350" cap="flat" cmpd="sng">
                      <a:solidFill>
                        <a:srgbClr val="A7A7A7"/>
                      </a:solidFill>
                      <a:prstDash val="solid"/>
                      <a:headEnd type="none" w="med" len="med"/>
                      <a:tailEnd type="none" w="med" len="med"/>
                    </a:lnB>
                    <a:noFill/>
                  </a:tcPr>
                </a:tc>
                <a:tc>
                  <a:txBody>
                    <a:bodyPr/>
                    <a:lstStyle/>
                    <a:p>
                      <a:pPr indent="0" algn="ctr" fontAlgn="auto">
                        <a:lnSpc>
                          <a:spcPct val="150000"/>
                        </a:lnSpc>
                      </a:pPr>
                      <a:r>
                        <a:rPr lang="en-US" altLang="zh-CN" sz="1000">
                          <a:solidFill>
                            <a:srgbClr val="000000"/>
                          </a:solidFill>
                          <a:latin typeface="微软雅黑" panose="020B0503020204020204" charset="-122"/>
                          <a:ea typeface="微软雅黑" panose="020B0503020204020204" charset="-122"/>
                        </a:rPr>
                        <a:t>1.</a:t>
                      </a:r>
                      <a:r>
                        <a:rPr lang="zh-CN" altLang="en-US" sz="1000">
                          <a:solidFill>
                            <a:srgbClr val="000000"/>
                          </a:solidFill>
                          <a:latin typeface="微软雅黑" panose="020B0503020204020204" charset="-122"/>
                          <a:ea typeface="微软雅黑" panose="020B0503020204020204" charset="-122"/>
                        </a:rPr>
                        <a:t>热</a:t>
                      </a:r>
                      <a:r>
                        <a:rPr lang="en-US" altLang="zh-CN" sz="1000">
                          <a:solidFill>
                            <a:srgbClr val="000000"/>
                          </a:solidFill>
                          <a:latin typeface="微软雅黑" panose="020B0503020204020204" charset="-122"/>
                          <a:ea typeface="微软雅黑" panose="020B0503020204020204" charset="-122"/>
                        </a:rPr>
                        <a:t>-</a:t>
                      </a:r>
                      <a:r>
                        <a:rPr lang="zh-CN" altLang="en-US" sz="1000">
                          <a:solidFill>
                            <a:srgbClr val="000000"/>
                          </a:solidFill>
                          <a:latin typeface="微软雅黑" panose="020B0503020204020204" charset="-122"/>
                          <a:ea typeface="微软雅黑" panose="020B0503020204020204" charset="-122"/>
                        </a:rPr>
                        <a:t>力耦合与热输入模型</a:t>
                      </a:r>
                    </a:p>
                    <a:p>
                      <a:pPr indent="0" algn="ctr" fontAlgn="auto">
                        <a:lnSpc>
                          <a:spcPct val="150000"/>
                        </a:lnSpc>
                      </a:pPr>
                      <a:r>
                        <a:rPr lang="en-US" altLang="zh-CN" sz="1000">
                          <a:solidFill>
                            <a:srgbClr val="000000"/>
                          </a:solidFill>
                          <a:latin typeface="微软雅黑" panose="020B0503020204020204" charset="-122"/>
                          <a:ea typeface="微软雅黑" panose="020B0503020204020204" charset="-122"/>
                        </a:rPr>
                        <a:t>2.</a:t>
                      </a:r>
                      <a:r>
                        <a:rPr lang="zh-CN" altLang="en-US" sz="1000">
                          <a:solidFill>
                            <a:srgbClr val="000000"/>
                          </a:solidFill>
                          <a:latin typeface="微软雅黑" panose="020B0503020204020204" charset="-122"/>
                          <a:ea typeface="微软雅黑" panose="020B0503020204020204" charset="-122"/>
                        </a:rPr>
                        <a:t>降阶</a:t>
                      </a:r>
                      <a:r>
                        <a:rPr lang="en-US" altLang="zh-CN" sz="1000">
                          <a:solidFill>
                            <a:srgbClr val="000000"/>
                          </a:solidFill>
                          <a:latin typeface="微软雅黑" panose="020B0503020204020204" charset="-122"/>
                          <a:ea typeface="微软雅黑" panose="020B0503020204020204" charset="-122"/>
                        </a:rPr>
                        <a:t>/</a:t>
                      </a:r>
                      <a:r>
                        <a:rPr lang="zh-CN" altLang="en-US" sz="1000">
                          <a:solidFill>
                            <a:srgbClr val="000000"/>
                          </a:solidFill>
                          <a:latin typeface="微软雅黑" panose="020B0503020204020204" charset="-122"/>
                          <a:ea typeface="微软雅黑" panose="020B0503020204020204" charset="-122"/>
                        </a:rPr>
                        <a:t>代理模型</a:t>
                      </a:r>
                    </a:p>
                    <a:p>
                      <a:pPr indent="0" algn="ctr" fontAlgn="auto">
                        <a:lnSpc>
                          <a:spcPct val="150000"/>
                        </a:lnSpc>
                      </a:pPr>
                      <a:r>
                        <a:rPr lang="en-US" altLang="zh-CN" sz="1000">
                          <a:solidFill>
                            <a:srgbClr val="000000"/>
                          </a:solidFill>
                          <a:latin typeface="微软雅黑" panose="020B0503020204020204" charset="-122"/>
                          <a:ea typeface="微软雅黑" panose="020B0503020204020204" charset="-122"/>
                        </a:rPr>
                        <a:t>3.</a:t>
                      </a:r>
                      <a:r>
                        <a:rPr lang="zh-CN" altLang="en-US" sz="1000">
                          <a:solidFill>
                            <a:srgbClr val="000000"/>
                          </a:solidFill>
                          <a:latin typeface="微软雅黑" panose="020B0503020204020204" charset="-122"/>
                          <a:ea typeface="微软雅黑" panose="020B0503020204020204" charset="-122"/>
                        </a:rPr>
                        <a:t>组合优化与图论</a:t>
                      </a:r>
                    </a:p>
                    <a:p>
                      <a:pPr indent="0" algn="ctr" fontAlgn="auto">
                        <a:lnSpc>
                          <a:spcPct val="150000"/>
                        </a:lnSpc>
                      </a:pPr>
                      <a:r>
                        <a:rPr lang="en-US" altLang="zh-CN" sz="1000">
                          <a:solidFill>
                            <a:srgbClr val="000000"/>
                          </a:solidFill>
                          <a:latin typeface="微软雅黑" panose="020B0503020204020204" charset="-122"/>
                          <a:ea typeface="微软雅黑" panose="020B0503020204020204" charset="-122"/>
                        </a:rPr>
                        <a:t>4.</a:t>
                      </a:r>
                      <a:r>
                        <a:rPr lang="zh-CN" altLang="en-US" sz="1000">
                          <a:solidFill>
                            <a:srgbClr val="000000"/>
                          </a:solidFill>
                          <a:latin typeface="微软雅黑" panose="020B0503020204020204" charset="-122"/>
                          <a:ea typeface="微软雅黑" panose="020B0503020204020204" charset="-122"/>
                        </a:rPr>
                        <a:t>多目标优化</a:t>
                      </a:r>
                    </a:p>
                    <a:p>
                      <a:pPr indent="0" algn="ctr" fontAlgn="auto">
                        <a:lnSpc>
                          <a:spcPct val="150000"/>
                        </a:lnSpc>
                      </a:pPr>
                      <a:r>
                        <a:rPr lang="en-US" altLang="zh-CN" sz="1000">
                          <a:solidFill>
                            <a:srgbClr val="000000"/>
                          </a:solidFill>
                          <a:latin typeface="微软雅黑" panose="020B0503020204020204" charset="-122"/>
                          <a:ea typeface="微软雅黑" panose="020B0503020204020204" charset="-122"/>
                        </a:rPr>
                        <a:t>5.</a:t>
                      </a:r>
                      <a:r>
                        <a:rPr lang="zh-CN" altLang="en-US" sz="1000">
                          <a:solidFill>
                            <a:srgbClr val="000000"/>
                          </a:solidFill>
                          <a:latin typeface="微软雅黑" panose="020B0503020204020204" charset="-122"/>
                          <a:ea typeface="微软雅黑" panose="020B0503020204020204" charset="-122"/>
                        </a:rPr>
                        <a:t>贝叶斯优化</a:t>
                      </a:r>
                      <a:r>
                        <a:rPr lang="en-US" altLang="zh-CN" sz="1000">
                          <a:solidFill>
                            <a:srgbClr val="000000"/>
                          </a:solidFill>
                          <a:latin typeface="微软雅黑" panose="020B0503020204020204" charset="-122"/>
                          <a:ea typeface="微软雅黑" panose="020B0503020204020204" charset="-122"/>
                        </a:rPr>
                        <a:t>/</a:t>
                      </a:r>
                      <a:r>
                        <a:rPr lang="zh-CN" altLang="en-US" sz="1000">
                          <a:solidFill>
                            <a:srgbClr val="000000"/>
                          </a:solidFill>
                          <a:latin typeface="微软雅黑" panose="020B0503020204020204" charset="-122"/>
                          <a:ea typeface="微软雅黑" panose="020B0503020204020204" charset="-122"/>
                        </a:rPr>
                        <a:t>元启发式</a:t>
                      </a:r>
                    </a:p>
                    <a:p>
                      <a:pPr indent="0" algn="ctr" fontAlgn="auto">
                        <a:lnSpc>
                          <a:spcPct val="150000"/>
                        </a:lnSpc>
                      </a:pPr>
                      <a:r>
                        <a:rPr lang="en-US" altLang="zh-CN" sz="1000">
                          <a:solidFill>
                            <a:srgbClr val="000000"/>
                          </a:solidFill>
                          <a:latin typeface="微软雅黑" panose="020B0503020204020204" charset="-122"/>
                          <a:ea typeface="微软雅黑" panose="020B0503020204020204" charset="-122"/>
                        </a:rPr>
                        <a:t>6.</a:t>
                      </a:r>
                      <a:r>
                        <a:rPr lang="zh-CN" altLang="en-US" sz="1000">
                          <a:solidFill>
                            <a:srgbClr val="000000"/>
                          </a:solidFill>
                          <a:latin typeface="微软雅黑" panose="020B0503020204020204" charset="-122"/>
                          <a:ea typeface="微软雅黑" panose="020B0503020204020204" charset="-122"/>
                        </a:rPr>
                        <a:t>强化学习</a:t>
                      </a:r>
                      <a:endParaRPr lang="en-US" altLang="zh-CN" sz="1000">
                        <a:solidFill>
                          <a:srgbClr val="000000"/>
                        </a:solidFill>
                        <a:latin typeface="微软雅黑" panose="020B0503020204020204" charset="-122"/>
                        <a:ea typeface="微软雅黑" panose="020B0503020204020204" charset="-122"/>
                      </a:endParaRPr>
                    </a:p>
                  </a:txBody>
                  <a:tcPr marL="0" marR="0" marT="0" marB="0" anchor="ctr">
                    <a:lnL w="6350" cap="flat" cmpd="sng">
                      <a:solidFill>
                        <a:srgbClr val="A7A7A7"/>
                      </a:solidFill>
                      <a:prstDash val="solid"/>
                      <a:headEnd type="none" w="med" len="med"/>
                      <a:tailEnd type="none" w="med" len="med"/>
                    </a:lnL>
                    <a:lnR w="6350" cap="flat" cmpd="sng">
                      <a:solidFill>
                        <a:srgbClr val="A7A7A7"/>
                      </a:solidFill>
                      <a:prstDash val="solid"/>
                      <a:headEnd type="none" w="med" len="med"/>
                      <a:tailEnd type="none" w="med" len="med"/>
                    </a:lnR>
                    <a:lnT w="6350" cap="flat" cmpd="sng">
                      <a:solidFill>
                        <a:srgbClr val="A7A7A7"/>
                      </a:solidFill>
                      <a:prstDash val="solid"/>
                      <a:headEnd type="none" w="med" len="med"/>
                      <a:tailEnd type="none" w="med" len="med"/>
                    </a:lnT>
                    <a:lnB w="6350" cap="flat" cmpd="sng">
                      <a:solidFill>
                        <a:srgbClr val="A7A7A7"/>
                      </a:solidFill>
                      <a:prstDash val="solid"/>
                      <a:headEnd type="none" w="med" len="med"/>
                      <a:tailEnd type="none" w="med" len="med"/>
                    </a:lnB>
                    <a:noFill/>
                  </a:tcPr>
                </a:tc>
                <a:tc vMerge="1">
                  <a:txBody>
                    <a:bodyPr/>
                    <a:lstStyle/>
                    <a:p>
                      <a:endParaRPr lang="zh-CN"/>
                    </a:p>
                  </a:txBody>
                  <a:tcPr marL="0" marR="0" marT="0" marB="0" anchor="ctr">
                    <a:lnL w="6350" cap="flat" cmpd="sng">
                      <a:solidFill>
                        <a:srgbClr val="A7A7A7"/>
                      </a:solidFill>
                      <a:prstDash val="solid"/>
                      <a:headEnd type="none" w="med" len="med"/>
                      <a:tailEnd type="none" w="med" len="med"/>
                    </a:lnL>
                    <a:lnR w="6350" cap="flat" cmpd="sng">
                      <a:solidFill>
                        <a:srgbClr val="A7A7A7"/>
                      </a:solidFill>
                      <a:prstDash val="solid"/>
                      <a:headEnd type="none" w="med" len="med"/>
                      <a:tailEnd type="none" w="med" len="med"/>
                    </a:lnR>
                    <a:lnT w="6350" cap="flat" cmpd="sng">
                      <a:solidFill>
                        <a:srgbClr val="A7A7A7"/>
                      </a:solidFill>
                      <a:prstDash val="solid"/>
                      <a:headEnd type="none" w="med" len="med"/>
                      <a:tailEnd type="none" w="med" len="med"/>
                    </a:lnT>
                    <a:lnB w="6350" cap="flat" cmpd="sng">
                      <a:solidFill>
                        <a:srgbClr val="A7A7A7"/>
                      </a:solidFill>
                      <a:prstDash val="solid"/>
                      <a:headEnd type="none" w="med" len="med"/>
                      <a:tailEnd type="none" w="med" len="med"/>
                    </a:lnB>
                    <a:noFill/>
                  </a:tcPr>
                </a:tc>
                <a:extLst>
                  <a:ext uri="{0D108BD9-81ED-4DB2-BD59-A6C34878D82A}">
                    <a16:rowId xmlns:a16="http://schemas.microsoft.com/office/drawing/2014/main" val="10002"/>
                  </a:ext>
                </a:extLst>
              </a:tr>
              <a:tr h="1924685">
                <a:tc>
                  <a:txBody>
                    <a:bodyPr/>
                    <a:lstStyle/>
                    <a:p>
                      <a:pPr algn="ctr"/>
                      <a:r>
                        <a:rPr lang="en-US" altLang="zh-CN" sz="1400" b="1">
                          <a:solidFill>
                            <a:srgbClr val="000000"/>
                          </a:solidFill>
                          <a:latin typeface="微软雅黑" panose="020B0503020204020204" charset="-122"/>
                          <a:ea typeface="微软雅黑" panose="020B0503020204020204" charset="-122"/>
                        </a:rPr>
                        <a:t>C.</a:t>
                      </a:r>
                      <a:r>
                        <a:rPr lang="zh-CN" altLang="en-US" sz="1400" b="1">
                          <a:solidFill>
                            <a:srgbClr val="000000"/>
                          </a:solidFill>
                          <a:latin typeface="微软雅黑" panose="020B0503020204020204" charset="-122"/>
                          <a:ea typeface="微软雅黑" panose="020B0503020204020204" charset="-122"/>
                        </a:rPr>
                        <a:t>机械臂轨迹规划</a:t>
                      </a:r>
                    </a:p>
                    <a:p>
                      <a:pPr algn="ctr"/>
                      <a:r>
                        <a:rPr lang="en-US" altLang="zh-CN" sz="1400" b="1">
                          <a:solidFill>
                            <a:srgbClr val="000000"/>
                          </a:solidFill>
                          <a:latin typeface="微软雅黑" panose="020B0503020204020204" charset="-122"/>
                          <a:ea typeface="微软雅黑" panose="020B0503020204020204" charset="-122"/>
                        </a:rPr>
                        <a:t>&amp;</a:t>
                      </a:r>
                    </a:p>
                    <a:p>
                      <a:pPr algn="ctr"/>
                      <a:r>
                        <a:rPr lang="zh-CN" altLang="en-US" sz="1400" b="1">
                          <a:solidFill>
                            <a:srgbClr val="000000"/>
                          </a:solidFill>
                          <a:latin typeface="微软雅黑" panose="020B0503020204020204" charset="-122"/>
                          <a:ea typeface="微软雅黑" panose="020B0503020204020204" charset="-122"/>
                        </a:rPr>
                        <a:t>焊缝在线跟踪</a:t>
                      </a:r>
                    </a:p>
                  </a:txBody>
                  <a:tcPr marL="0" marR="0" marT="0" marB="0" anchor="ctr">
                    <a:lnL w="6350" cap="flat" cmpd="sng">
                      <a:solidFill>
                        <a:srgbClr val="A7A7A7"/>
                      </a:solidFill>
                      <a:prstDash val="solid"/>
                      <a:headEnd type="none" w="med" len="med"/>
                      <a:tailEnd type="none" w="med" len="med"/>
                    </a:lnL>
                    <a:lnR w="6350" cap="flat" cmpd="sng">
                      <a:solidFill>
                        <a:srgbClr val="A7A7A7"/>
                      </a:solidFill>
                      <a:prstDash val="solid"/>
                      <a:headEnd type="none" w="med" len="med"/>
                      <a:tailEnd type="none" w="med" len="med"/>
                    </a:lnR>
                    <a:lnT w="6350" cap="flat" cmpd="sng">
                      <a:solidFill>
                        <a:srgbClr val="A7A7A7"/>
                      </a:solidFill>
                      <a:prstDash val="solid"/>
                      <a:headEnd type="none" w="med" len="med"/>
                      <a:tailEnd type="none" w="med" len="med"/>
                    </a:lnT>
                    <a:lnB w="6350" cap="flat" cmpd="sng">
                      <a:solidFill>
                        <a:srgbClr val="A7A7A7"/>
                      </a:solidFill>
                      <a:prstDash val="solid"/>
                      <a:headEnd type="none" w="med" len="med"/>
                      <a:tailEnd type="none" w="med" len="med"/>
                    </a:lnB>
                    <a:noFill/>
                  </a:tcPr>
                </a:tc>
                <a:tc>
                  <a:txBody>
                    <a:bodyPr/>
                    <a:lstStyle/>
                    <a:p>
                      <a:pPr indent="0" algn="ctr" fontAlgn="auto">
                        <a:lnSpc>
                          <a:spcPct val="150000"/>
                        </a:lnSpc>
                      </a:pPr>
                      <a:r>
                        <a:rPr lang="en-US" altLang="zh-CN" sz="1000" b="1">
                          <a:solidFill>
                            <a:srgbClr val="000000"/>
                          </a:solidFill>
                          <a:latin typeface="微软雅黑" panose="020B0503020204020204" charset="-122"/>
                          <a:ea typeface="微软雅黑" panose="020B0503020204020204" charset="-122"/>
                        </a:rPr>
                        <a:t>C1</a:t>
                      </a:r>
                      <a:r>
                        <a:rPr lang="zh-CN" altLang="en-US" sz="1000">
                          <a:solidFill>
                            <a:srgbClr val="000000"/>
                          </a:solidFill>
                          <a:latin typeface="微软雅黑" panose="020B0503020204020204" charset="-122"/>
                          <a:ea typeface="微软雅黑" panose="020B0503020204020204" charset="-122"/>
                        </a:rPr>
                        <a:t>：</a:t>
                      </a:r>
                      <a:r>
                        <a:rPr lang="zh-CN" altLang="en-US" sz="1000" u="sng">
                          <a:solidFill>
                            <a:srgbClr val="000000"/>
                          </a:solidFill>
                          <a:latin typeface="微软雅黑" panose="020B0503020204020204" charset="-122"/>
                          <a:ea typeface="微软雅黑" panose="020B0503020204020204" charset="-122"/>
                        </a:rPr>
                        <a:t>在末端姿态与路径约束、零干涉约束下确定时间最短、冲击最小的轨迹</a:t>
                      </a:r>
                    </a:p>
                    <a:p>
                      <a:pPr indent="0" algn="ctr" fontAlgn="auto">
                        <a:lnSpc>
                          <a:spcPct val="150000"/>
                        </a:lnSpc>
                      </a:pPr>
                      <a:r>
                        <a:rPr lang="en-US" altLang="zh-CN" sz="1000" b="1">
                          <a:solidFill>
                            <a:srgbClr val="000000"/>
                          </a:solidFill>
                          <a:latin typeface="微软雅黑" panose="020B0503020204020204" charset="-122"/>
                          <a:ea typeface="微软雅黑" panose="020B0503020204020204" charset="-122"/>
                        </a:rPr>
                        <a:t>C2</a:t>
                      </a:r>
                      <a:r>
                        <a:rPr lang="zh-CN" altLang="en-US" sz="1000">
                          <a:solidFill>
                            <a:srgbClr val="000000"/>
                          </a:solidFill>
                          <a:latin typeface="微软雅黑" panose="020B0503020204020204" charset="-122"/>
                          <a:ea typeface="微软雅黑" panose="020B0503020204020204" charset="-122"/>
                        </a:rPr>
                        <a:t>：</a:t>
                      </a:r>
                      <a:r>
                        <a:rPr lang="zh-CN" altLang="en-US" sz="1000" u="sng">
                          <a:solidFill>
                            <a:srgbClr val="000000"/>
                          </a:solidFill>
                          <a:latin typeface="微软雅黑" panose="020B0503020204020204" charset="-122"/>
                          <a:ea typeface="微软雅黑" panose="020B0503020204020204" charset="-122"/>
                        </a:rPr>
                        <a:t>实时修正轨迹，补偿热变形与制造装配误差等</a:t>
                      </a:r>
                    </a:p>
                  </a:txBody>
                  <a:tcPr marL="0" marR="0" marT="0" marB="0" anchor="ctr">
                    <a:lnL w="6350" cap="flat" cmpd="sng">
                      <a:solidFill>
                        <a:srgbClr val="A7A7A7"/>
                      </a:solidFill>
                      <a:prstDash val="solid"/>
                      <a:headEnd type="none" w="med" len="med"/>
                      <a:tailEnd type="none" w="med" len="med"/>
                    </a:lnL>
                    <a:lnR w="6350" cap="flat" cmpd="sng">
                      <a:solidFill>
                        <a:srgbClr val="A7A7A7"/>
                      </a:solidFill>
                      <a:prstDash val="solid"/>
                      <a:headEnd type="none" w="med" len="med"/>
                      <a:tailEnd type="none" w="med" len="med"/>
                    </a:lnR>
                    <a:lnT w="6350" cap="flat" cmpd="sng">
                      <a:solidFill>
                        <a:srgbClr val="A7A7A7"/>
                      </a:solidFill>
                      <a:prstDash val="solid"/>
                      <a:headEnd type="none" w="med" len="med"/>
                      <a:tailEnd type="none" w="med" len="med"/>
                    </a:lnT>
                    <a:lnB w="6350" cap="flat" cmpd="sng">
                      <a:solidFill>
                        <a:srgbClr val="A7A7A7"/>
                      </a:solidFill>
                      <a:prstDash val="solid"/>
                      <a:headEnd type="none" w="med" len="med"/>
                      <a:tailEnd type="none" w="med" len="med"/>
                    </a:lnB>
                    <a:noFill/>
                  </a:tcPr>
                </a:tc>
                <a:tc>
                  <a:txBody>
                    <a:bodyPr/>
                    <a:lstStyle/>
                    <a:p>
                      <a:pPr indent="0" algn="ctr" fontAlgn="auto">
                        <a:lnSpc>
                          <a:spcPct val="150000"/>
                        </a:lnSpc>
                      </a:pPr>
                      <a:r>
                        <a:rPr lang="en-US" altLang="zh-CN" sz="1000">
                          <a:solidFill>
                            <a:srgbClr val="000000"/>
                          </a:solidFill>
                          <a:latin typeface="微软雅黑" panose="020B0503020204020204" charset="-122"/>
                          <a:ea typeface="微软雅黑" panose="020B0503020204020204" charset="-122"/>
                        </a:rPr>
                        <a:t>1.</a:t>
                      </a:r>
                      <a:r>
                        <a:rPr lang="zh-CN" altLang="en-US" sz="1000">
                          <a:solidFill>
                            <a:srgbClr val="000000"/>
                          </a:solidFill>
                          <a:latin typeface="微软雅黑" panose="020B0503020204020204" charset="-122"/>
                          <a:ea typeface="微软雅黑" panose="020B0503020204020204" charset="-122"/>
                        </a:rPr>
                        <a:t>机器人运动学</a:t>
                      </a:r>
                      <a:r>
                        <a:rPr lang="en-US" altLang="zh-CN" sz="1000">
                          <a:solidFill>
                            <a:srgbClr val="000000"/>
                          </a:solidFill>
                          <a:latin typeface="微软雅黑" panose="020B0503020204020204" charset="-122"/>
                          <a:ea typeface="微软雅黑" panose="020B0503020204020204" charset="-122"/>
                        </a:rPr>
                        <a:t>/</a:t>
                      </a:r>
                      <a:r>
                        <a:rPr lang="zh-CN" altLang="en-US" sz="1000">
                          <a:solidFill>
                            <a:srgbClr val="000000"/>
                          </a:solidFill>
                          <a:latin typeface="微软雅黑" panose="020B0503020204020204" charset="-122"/>
                          <a:ea typeface="微软雅黑" panose="020B0503020204020204" charset="-122"/>
                        </a:rPr>
                        <a:t>动力学</a:t>
                      </a:r>
                    </a:p>
                    <a:p>
                      <a:pPr indent="0" algn="ctr" fontAlgn="auto">
                        <a:lnSpc>
                          <a:spcPct val="150000"/>
                        </a:lnSpc>
                      </a:pPr>
                      <a:r>
                        <a:rPr lang="en-US" altLang="zh-CN" sz="1000">
                          <a:solidFill>
                            <a:srgbClr val="000000"/>
                          </a:solidFill>
                          <a:latin typeface="微软雅黑" panose="020B0503020204020204" charset="-122"/>
                          <a:ea typeface="微软雅黑" panose="020B0503020204020204" charset="-122"/>
                        </a:rPr>
                        <a:t>2.</a:t>
                      </a:r>
                      <a:r>
                        <a:rPr lang="zh-CN" altLang="en-US" sz="1000">
                          <a:solidFill>
                            <a:srgbClr val="000000"/>
                          </a:solidFill>
                          <a:latin typeface="微软雅黑" panose="020B0503020204020204" charset="-122"/>
                          <a:ea typeface="微软雅黑" panose="020B0503020204020204" charset="-122"/>
                        </a:rPr>
                        <a:t>可达性与</a:t>
                      </a:r>
                      <a:r>
                        <a:rPr lang="en-US" altLang="zh-CN" sz="1000">
                          <a:solidFill>
                            <a:srgbClr val="000000"/>
                          </a:solidFill>
                          <a:latin typeface="微软雅黑" panose="020B0503020204020204" charset="-122"/>
                          <a:ea typeface="微软雅黑" panose="020B0503020204020204" charset="-122"/>
                        </a:rPr>
                        <a:t>C-</a:t>
                      </a:r>
                      <a:r>
                        <a:rPr lang="zh-CN" altLang="en-US" sz="1000">
                          <a:solidFill>
                            <a:srgbClr val="000000"/>
                          </a:solidFill>
                          <a:latin typeface="微软雅黑" panose="020B0503020204020204" charset="-122"/>
                          <a:ea typeface="微软雅黑" panose="020B0503020204020204" charset="-122"/>
                        </a:rPr>
                        <a:t>空间</a:t>
                      </a:r>
                    </a:p>
                    <a:p>
                      <a:pPr indent="0" algn="ctr" fontAlgn="auto">
                        <a:lnSpc>
                          <a:spcPct val="150000"/>
                        </a:lnSpc>
                      </a:pPr>
                      <a:r>
                        <a:rPr lang="en-US" altLang="zh-CN" sz="1000" b="0">
                          <a:solidFill>
                            <a:srgbClr val="000000"/>
                          </a:solidFill>
                          <a:latin typeface="微软雅黑" panose="020B0503020204020204" charset="-122"/>
                          <a:ea typeface="微软雅黑" panose="020B0503020204020204" charset="-122"/>
                        </a:rPr>
                        <a:t>3</a:t>
                      </a:r>
                      <a:r>
                        <a:rPr lang="en-US" altLang="zh-CN" sz="1000" b="1">
                          <a:solidFill>
                            <a:srgbClr val="000000"/>
                          </a:solidFill>
                          <a:latin typeface="微软雅黑" panose="020B0503020204020204" charset="-122"/>
                          <a:ea typeface="微软雅黑" panose="020B0503020204020204" charset="-122"/>
                        </a:rPr>
                        <a:t>.</a:t>
                      </a:r>
                      <a:r>
                        <a:rPr lang="zh-CN" altLang="en-US" sz="1000" b="0">
                          <a:solidFill>
                            <a:srgbClr val="000000"/>
                          </a:solidFill>
                          <a:latin typeface="微软雅黑" panose="020B0503020204020204" charset="-122"/>
                          <a:ea typeface="微软雅黑" panose="020B0503020204020204" charset="-122"/>
                        </a:rPr>
                        <a:t>采样</a:t>
                      </a:r>
                      <a:r>
                        <a:rPr lang="en-US" altLang="zh-CN" sz="1000" b="0">
                          <a:solidFill>
                            <a:srgbClr val="000000"/>
                          </a:solidFill>
                          <a:latin typeface="微软雅黑" panose="020B0503020204020204" charset="-122"/>
                          <a:ea typeface="微软雅黑" panose="020B0503020204020204" charset="-122"/>
                        </a:rPr>
                        <a:t>/</a:t>
                      </a:r>
                      <a:r>
                        <a:rPr lang="zh-CN" altLang="en-US" sz="1000" b="0">
                          <a:solidFill>
                            <a:srgbClr val="000000"/>
                          </a:solidFill>
                          <a:latin typeface="微软雅黑" panose="020B0503020204020204" charset="-122"/>
                          <a:ea typeface="微软雅黑" panose="020B0503020204020204" charset="-122"/>
                        </a:rPr>
                        <a:t>优化混合</a:t>
                      </a:r>
                      <a:r>
                        <a:rPr lang="zh-CN" altLang="en-US" sz="1000">
                          <a:solidFill>
                            <a:srgbClr val="000000"/>
                          </a:solidFill>
                          <a:latin typeface="微软雅黑" panose="020B0503020204020204" charset="-122"/>
                          <a:ea typeface="微软雅黑" panose="020B0503020204020204" charset="-122"/>
                        </a:rPr>
                        <a:t>运动规划</a:t>
                      </a:r>
                    </a:p>
                    <a:p>
                      <a:pPr indent="0" algn="ctr" fontAlgn="auto">
                        <a:lnSpc>
                          <a:spcPct val="150000"/>
                        </a:lnSpc>
                      </a:pPr>
                      <a:r>
                        <a:rPr lang="en-US" altLang="zh-CN" sz="1000">
                          <a:solidFill>
                            <a:srgbClr val="000000"/>
                          </a:solidFill>
                          <a:latin typeface="微软雅黑" panose="020B0503020204020204" charset="-122"/>
                          <a:ea typeface="微软雅黑" panose="020B0503020204020204" charset="-122"/>
                        </a:rPr>
                        <a:t>4.</a:t>
                      </a:r>
                      <a:r>
                        <a:rPr lang="zh-CN" altLang="en-US" sz="1000">
                          <a:solidFill>
                            <a:srgbClr val="000000"/>
                          </a:solidFill>
                          <a:latin typeface="微软雅黑" panose="020B0503020204020204" charset="-122"/>
                          <a:ea typeface="微软雅黑" panose="020B0503020204020204" charset="-122"/>
                        </a:rPr>
                        <a:t>约束最优控制与</a:t>
                      </a:r>
                      <a:r>
                        <a:rPr lang="en-US" altLang="zh-CN" sz="1000" b="0">
                          <a:solidFill>
                            <a:srgbClr val="000000"/>
                          </a:solidFill>
                          <a:latin typeface="微软雅黑" panose="020B0503020204020204" charset="-122"/>
                          <a:ea typeface="微软雅黑" panose="020B0503020204020204" charset="-122"/>
                        </a:rPr>
                        <a:t>MPC</a:t>
                      </a:r>
                      <a:endParaRPr lang="en-US" altLang="zh-CN" sz="1000" b="1">
                        <a:solidFill>
                          <a:srgbClr val="000000"/>
                        </a:solidFill>
                        <a:latin typeface="微软雅黑" panose="020B0503020204020204" charset="-122"/>
                        <a:ea typeface="微软雅黑" panose="020B0503020204020204" charset="-122"/>
                      </a:endParaRPr>
                    </a:p>
                    <a:p>
                      <a:pPr algn="ctr"/>
                      <a:endParaRPr lang="zh-CN" altLang="en-US" sz="1000" b="1">
                        <a:solidFill>
                          <a:srgbClr val="000000"/>
                        </a:solidFill>
                        <a:latin typeface="微软雅黑" panose="020B0503020204020204" charset="-122"/>
                        <a:ea typeface="微软雅黑" panose="020B0503020204020204" charset="-122"/>
                      </a:endParaRPr>
                    </a:p>
                  </a:txBody>
                  <a:tcPr marL="0" marR="0" marT="0" marB="0" anchor="ctr">
                    <a:lnL w="6350" cap="flat" cmpd="sng">
                      <a:solidFill>
                        <a:srgbClr val="A7A7A7"/>
                      </a:solidFill>
                      <a:prstDash val="solid"/>
                      <a:headEnd type="none" w="med" len="med"/>
                      <a:tailEnd type="none" w="med" len="med"/>
                    </a:lnL>
                    <a:lnR w="6350" cap="flat" cmpd="sng">
                      <a:solidFill>
                        <a:srgbClr val="A7A7A7"/>
                      </a:solidFill>
                      <a:prstDash val="solid"/>
                      <a:headEnd type="none" w="med" len="med"/>
                      <a:tailEnd type="none" w="med" len="med"/>
                    </a:lnR>
                    <a:lnT w="6350" cap="flat" cmpd="sng">
                      <a:solidFill>
                        <a:srgbClr val="A7A7A7"/>
                      </a:solidFill>
                      <a:prstDash val="solid"/>
                      <a:headEnd type="none" w="med" len="med"/>
                      <a:tailEnd type="none" w="med" len="med"/>
                    </a:lnT>
                    <a:lnB w="6350" cap="flat" cmpd="sng">
                      <a:solidFill>
                        <a:srgbClr val="A7A7A7"/>
                      </a:solidFill>
                      <a:prstDash val="solid"/>
                      <a:headEnd type="none" w="med" len="med"/>
                      <a:tailEnd type="none" w="med" len="med"/>
                    </a:lnB>
                    <a:noFill/>
                  </a:tcPr>
                </a:tc>
                <a:tc vMerge="1">
                  <a:txBody>
                    <a:bodyPr/>
                    <a:lstStyle/>
                    <a:p>
                      <a:endParaRPr lang="zh-CN"/>
                    </a:p>
                  </a:txBody>
                  <a:tcPr marL="0" marR="0" marT="0" marB="0" anchor="ctr">
                    <a:lnL w="6350" cap="flat" cmpd="sng">
                      <a:solidFill>
                        <a:srgbClr val="A7A7A7"/>
                      </a:solidFill>
                      <a:prstDash val="solid"/>
                      <a:headEnd type="none" w="med" len="med"/>
                      <a:tailEnd type="none" w="med" len="med"/>
                    </a:lnL>
                    <a:lnR w="6350" cap="flat" cmpd="sng">
                      <a:solidFill>
                        <a:srgbClr val="A7A7A7"/>
                      </a:solidFill>
                      <a:prstDash val="solid"/>
                      <a:headEnd type="none" w="med" len="med"/>
                      <a:tailEnd type="none" w="med" len="med"/>
                    </a:lnR>
                    <a:lnT w="6350" cap="flat" cmpd="sng">
                      <a:solidFill>
                        <a:srgbClr val="A7A7A7"/>
                      </a:solidFill>
                      <a:prstDash val="solid"/>
                      <a:headEnd type="none" w="med" len="med"/>
                      <a:tailEnd type="none" w="med" len="med"/>
                    </a:lnT>
                    <a:lnB w="6350" cap="flat" cmpd="sng">
                      <a:solidFill>
                        <a:srgbClr val="A7A7A7"/>
                      </a:solidFill>
                      <a:prstDash val="solid"/>
                      <a:headEnd type="none" w="med" len="med"/>
                      <a:tailEnd type="none" w="med" len="med"/>
                    </a:lnB>
                    <a:noFill/>
                  </a:tcPr>
                </a:tc>
                <a:extLst>
                  <a:ext uri="{0D108BD9-81ED-4DB2-BD59-A6C34878D82A}">
                    <a16:rowId xmlns:a16="http://schemas.microsoft.com/office/drawing/2014/main" val="10003"/>
                  </a:ext>
                </a:extLst>
              </a:tr>
            </a:tbl>
          </a:graphicData>
        </a:graphic>
      </p:graphicFrame>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22050-58C6-F369-7580-361E60756F3F}"/>
            </a:ext>
          </a:extLst>
        </p:cNvPr>
        <p:cNvGrpSpPr/>
        <p:nvPr/>
      </p:nvGrpSpPr>
      <p:grpSpPr>
        <a:xfrm>
          <a:off x="0" y="0"/>
          <a:ext cx="0" cy="0"/>
          <a:chOff x="0" y="0"/>
          <a:chExt cx="0" cy="0"/>
        </a:xfrm>
      </p:grpSpPr>
      <p:sp>
        <p:nvSpPr>
          <p:cNvPr id="5" name="矩形 4">
            <a:extLst>
              <a:ext uri="{FF2B5EF4-FFF2-40B4-BE49-F238E27FC236}">
                <a16:creationId xmlns:a16="http://schemas.microsoft.com/office/drawing/2014/main" id="{D87EEBD2-17FA-2940-571C-8BC99621F410}"/>
              </a:ext>
            </a:extLst>
          </p:cNvPr>
          <p:cNvSpPr/>
          <p:nvPr/>
        </p:nvSpPr>
        <p:spPr>
          <a:xfrm>
            <a:off x="0" y="0"/>
            <a:ext cx="9144000" cy="508159"/>
          </a:xfrm>
          <a:prstGeom prst="rect">
            <a:avLst/>
          </a:prstGeom>
          <a:solidFill>
            <a:schemeClr val="accent1">
              <a:lumMod val="75000"/>
            </a:schemeClr>
          </a:solidFill>
          <a:ln>
            <a:noFill/>
          </a:ln>
          <a:effectLst>
            <a:softEdge rad="127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6" name="文本框 5">
            <a:extLst>
              <a:ext uri="{FF2B5EF4-FFF2-40B4-BE49-F238E27FC236}">
                <a16:creationId xmlns:a16="http://schemas.microsoft.com/office/drawing/2014/main" id="{ED5323A9-5D4A-C462-0B50-73558564D24C}"/>
              </a:ext>
            </a:extLst>
          </p:cNvPr>
          <p:cNvSpPr txBox="1"/>
          <p:nvPr/>
        </p:nvSpPr>
        <p:spPr>
          <a:xfrm>
            <a:off x="139065" y="46990"/>
            <a:ext cx="3871595" cy="414020"/>
          </a:xfrm>
          <a:prstGeom prst="rect">
            <a:avLst/>
          </a:prstGeom>
          <a:noFill/>
        </p:spPr>
        <p:txBody>
          <a:bodyPr wrap="square" rtlCol="0">
            <a:spAutoFit/>
          </a:bodyPr>
          <a:lstStyle/>
          <a:p>
            <a:r>
              <a:rPr lang="zh-CN" altLang="en-US" sz="2100" b="1">
                <a:solidFill>
                  <a:schemeClr val="bg1"/>
                </a:solidFill>
                <a:sym typeface="+mn-ea"/>
              </a:rPr>
              <a:t>方案构思</a:t>
            </a:r>
            <a:r>
              <a:rPr lang="en-US" altLang="zh-CN" sz="2100" b="1">
                <a:solidFill>
                  <a:schemeClr val="bg1"/>
                </a:solidFill>
              </a:rPr>
              <a:t>-</a:t>
            </a:r>
            <a:r>
              <a:rPr lang="zh-CN" altLang="en-US" b="1">
                <a:solidFill>
                  <a:schemeClr val="bg1"/>
                </a:solidFill>
              </a:rPr>
              <a:t>机械臂焊前轨迹规划</a:t>
            </a:r>
          </a:p>
        </p:txBody>
      </p:sp>
      <p:sp>
        <p:nvSpPr>
          <p:cNvPr id="4" name="文本框 3">
            <a:extLst>
              <a:ext uri="{FF2B5EF4-FFF2-40B4-BE49-F238E27FC236}">
                <a16:creationId xmlns:a16="http://schemas.microsoft.com/office/drawing/2014/main" id="{07A3C2BF-F8D7-DC6D-8B7A-E3D68160BE91}"/>
              </a:ext>
            </a:extLst>
          </p:cNvPr>
          <p:cNvSpPr txBox="1"/>
          <p:nvPr/>
        </p:nvSpPr>
        <p:spPr>
          <a:xfrm>
            <a:off x="78741" y="550545"/>
            <a:ext cx="1654962" cy="398780"/>
          </a:xfrm>
          <a:prstGeom prst="rect">
            <a:avLst/>
          </a:prstGeom>
          <a:noFill/>
        </p:spPr>
        <p:txBody>
          <a:bodyPr wrap="square" rtlCol="0">
            <a:spAutoFit/>
          </a:bodyPr>
          <a:lstStyle/>
          <a:p>
            <a:pPr marL="285750" indent="-285750">
              <a:buFont typeface="Wingdings" panose="05000000000000000000" charset="0"/>
              <a:buChar char="Ø"/>
            </a:pPr>
            <a:r>
              <a:rPr lang="zh-CN" altLang="en-US" sz="2000" b="1" dirty="0"/>
              <a:t>问题描述</a:t>
            </a:r>
          </a:p>
        </p:txBody>
      </p:sp>
      <p:graphicFrame>
        <p:nvGraphicFramePr>
          <p:cNvPr id="9" name="对象 8">
            <a:hlinkClick r:id="" action="ppaction://ole?verb=0"/>
            <a:extLst>
              <a:ext uri="{FF2B5EF4-FFF2-40B4-BE49-F238E27FC236}">
                <a16:creationId xmlns:a16="http://schemas.microsoft.com/office/drawing/2014/main" id="{880E42DD-5ED9-FA37-AA1A-A0CB983D62D1}"/>
              </a:ext>
            </a:extLst>
          </p:cNvPr>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r:id="rId3" imgW="114300" imgH="215900" progId="Equation.KSEE3">
                  <p:embed/>
                </p:oleObj>
              </mc:Choice>
              <mc:Fallback>
                <p:oleObj r:id="rId3" imgW="114300" imgH="215900" progId="Equation.KSEE3">
                  <p:embed/>
                  <p:pic>
                    <p:nvPicPr>
                      <p:cNvPr id="9" name="对象 8">
                        <a:hlinkClick r:id="" action="ppaction://ole?verb=0"/>
                        <a:extLst>
                          <a:ext uri="{FF2B5EF4-FFF2-40B4-BE49-F238E27FC236}">
                            <a16:creationId xmlns:a16="http://schemas.microsoft.com/office/drawing/2014/main" id="{880E42DD-5ED9-FA37-AA1A-A0CB983D62D1}"/>
                          </a:ext>
                        </a:extLst>
                      </p:cNvPr>
                      <p:cNvPicPr/>
                      <p:nvPr/>
                    </p:nvPicPr>
                    <p:blipFill>
                      <a:blip r:embed="rId4"/>
                      <a:stretch>
                        <a:fillRect/>
                      </a:stretch>
                    </p:blipFill>
                    <p:spPr>
                      <a:xfrm>
                        <a:off x="4514850" y="3321050"/>
                        <a:ext cx="114300" cy="215900"/>
                      </a:xfrm>
                      <a:prstGeom prst="rect">
                        <a:avLst/>
                      </a:prstGeom>
                    </p:spPr>
                  </p:pic>
                </p:oleObj>
              </mc:Fallback>
            </mc:AlternateContent>
          </a:graphicData>
        </a:graphic>
      </p:graphicFrame>
      <p:sp>
        <p:nvSpPr>
          <p:cNvPr id="3" name="文本框 2">
            <a:extLst>
              <a:ext uri="{FF2B5EF4-FFF2-40B4-BE49-F238E27FC236}">
                <a16:creationId xmlns:a16="http://schemas.microsoft.com/office/drawing/2014/main" id="{2EFCBC94-CA06-E9C1-3B7F-B1E2977BB0E9}"/>
              </a:ext>
            </a:extLst>
          </p:cNvPr>
          <p:cNvSpPr txBox="1"/>
          <p:nvPr/>
        </p:nvSpPr>
        <p:spPr>
          <a:xfrm>
            <a:off x="1343635" y="1249070"/>
            <a:ext cx="6571030" cy="369332"/>
          </a:xfrm>
          <a:prstGeom prst="rect">
            <a:avLst/>
          </a:prstGeom>
          <a:noFill/>
        </p:spPr>
        <p:txBody>
          <a:bodyPr wrap="none" rtlCol="0">
            <a:spAutoFit/>
          </a:bodyPr>
          <a:lstStyle/>
          <a:p>
            <a:r>
              <a:rPr lang="zh-CN" altLang="en-US" dirty="0"/>
              <a:t>船舶制造中，焊接存在于大部分工序，焊接质量与效率决定了</a:t>
            </a:r>
            <a:r>
              <a:rPr lang="en-US" altLang="zh-CN" dirty="0"/>
              <a:t>()</a:t>
            </a:r>
            <a:endParaRPr lang="zh-CN" altLang="en-US" dirty="0"/>
          </a:p>
        </p:txBody>
      </p:sp>
      <p:sp>
        <p:nvSpPr>
          <p:cNvPr id="7" name="文本框 6">
            <a:extLst>
              <a:ext uri="{FF2B5EF4-FFF2-40B4-BE49-F238E27FC236}">
                <a16:creationId xmlns:a16="http://schemas.microsoft.com/office/drawing/2014/main" id="{0611BEBD-BB1E-0436-D333-BA7FF06DF9E0}"/>
              </a:ext>
            </a:extLst>
          </p:cNvPr>
          <p:cNvSpPr txBox="1"/>
          <p:nvPr/>
        </p:nvSpPr>
        <p:spPr>
          <a:xfrm>
            <a:off x="13323" y="1690236"/>
            <a:ext cx="9003053" cy="646331"/>
          </a:xfrm>
          <a:prstGeom prst="rect">
            <a:avLst/>
          </a:prstGeom>
          <a:noFill/>
        </p:spPr>
        <p:txBody>
          <a:bodyPr wrap="square" rtlCol="0">
            <a:spAutoFit/>
          </a:bodyPr>
          <a:lstStyle/>
          <a:p>
            <a:r>
              <a:rPr lang="zh-CN" altLang="en-US" dirty="0"/>
              <a:t>以人工为主导的焊接受人口老龄化、工作环境恶劣等因素影响，面临劳力不足的现象，利用机械臂进行自动化焊接成为新的趋势</a:t>
            </a:r>
          </a:p>
        </p:txBody>
      </p:sp>
      <p:sp>
        <p:nvSpPr>
          <p:cNvPr id="8" name="文本框 7">
            <a:extLst>
              <a:ext uri="{FF2B5EF4-FFF2-40B4-BE49-F238E27FC236}">
                <a16:creationId xmlns:a16="http://schemas.microsoft.com/office/drawing/2014/main" id="{054BA966-46B8-09A4-906D-DA8BF180294A}"/>
              </a:ext>
            </a:extLst>
          </p:cNvPr>
          <p:cNvSpPr txBox="1"/>
          <p:nvPr/>
        </p:nvSpPr>
        <p:spPr>
          <a:xfrm>
            <a:off x="-662933" y="2336567"/>
            <a:ext cx="12187952" cy="369332"/>
          </a:xfrm>
          <a:prstGeom prst="rect">
            <a:avLst/>
          </a:prstGeom>
          <a:noFill/>
        </p:spPr>
        <p:txBody>
          <a:bodyPr wrap="none" rtlCol="0">
            <a:spAutoFit/>
          </a:bodyPr>
          <a:lstStyle/>
          <a:p>
            <a:r>
              <a:rPr lang="zh-CN" altLang="en-US" dirty="0"/>
              <a:t>当前方法以人工示教的半自动焊接为主，应对船舶制造中小批量非标件的模式需要反复示教，耗费大量时间，耽误生产</a:t>
            </a:r>
          </a:p>
        </p:txBody>
      </p:sp>
      <p:sp>
        <p:nvSpPr>
          <p:cNvPr id="12" name="文本框 11">
            <a:extLst>
              <a:ext uri="{FF2B5EF4-FFF2-40B4-BE49-F238E27FC236}">
                <a16:creationId xmlns:a16="http://schemas.microsoft.com/office/drawing/2014/main" id="{120A9550-58BB-01F3-6F58-C56E318E9654}"/>
              </a:ext>
            </a:extLst>
          </p:cNvPr>
          <p:cNvSpPr txBox="1"/>
          <p:nvPr/>
        </p:nvSpPr>
        <p:spPr>
          <a:xfrm>
            <a:off x="-340644" y="2767052"/>
            <a:ext cx="12274514" cy="369332"/>
          </a:xfrm>
          <a:prstGeom prst="rect">
            <a:avLst/>
          </a:prstGeom>
          <a:noFill/>
        </p:spPr>
        <p:txBody>
          <a:bodyPr wrap="none" rtlCol="0">
            <a:spAutoFit/>
          </a:bodyPr>
          <a:lstStyle/>
          <a:p>
            <a:r>
              <a:rPr lang="zh-CN" altLang="en-US" dirty="0"/>
              <a:t>焊缝的识别定位与焊接轨迹规划是自动化焊接的关键，其中兼顾安全无干涉以及工作效率的在线轨迹规划是其中难点</a:t>
            </a:r>
          </a:p>
        </p:txBody>
      </p:sp>
      <p:sp>
        <p:nvSpPr>
          <p:cNvPr id="14" name="文本框 13">
            <a:extLst>
              <a:ext uri="{FF2B5EF4-FFF2-40B4-BE49-F238E27FC236}">
                <a16:creationId xmlns:a16="http://schemas.microsoft.com/office/drawing/2014/main" id="{8EFCF28A-2401-B31B-D442-A6BE3954A49B}"/>
              </a:ext>
            </a:extLst>
          </p:cNvPr>
          <p:cNvSpPr txBox="1"/>
          <p:nvPr/>
        </p:nvSpPr>
        <p:spPr>
          <a:xfrm>
            <a:off x="906222" y="3429000"/>
            <a:ext cx="6776237" cy="369332"/>
          </a:xfrm>
          <a:prstGeom prst="rect">
            <a:avLst/>
          </a:prstGeom>
          <a:noFill/>
        </p:spPr>
        <p:txBody>
          <a:bodyPr wrap="square" rtlCol="0">
            <a:spAutoFit/>
          </a:bodyPr>
          <a:lstStyle/>
          <a:p>
            <a:r>
              <a:rPr lang="zh-CN" altLang="en-US" dirty="0"/>
              <a:t>数学上，</a:t>
            </a:r>
            <a:r>
              <a:rPr lang="zh-CN" altLang="en-US"/>
              <a:t>轨迹规划可以被归作多目标多约束优化问题</a:t>
            </a:r>
            <a:endParaRPr lang="zh-CN" altLang="en-US" dirty="0"/>
          </a:p>
        </p:txBody>
      </p:sp>
    </p:spTree>
    <p:custDataLst>
      <p:tags r:id="rId1"/>
    </p:custDataLst>
    <p:extLst>
      <p:ext uri="{BB962C8B-B14F-4D97-AF65-F5344CB8AC3E}">
        <p14:creationId xmlns:p14="http://schemas.microsoft.com/office/powerpoint/2010/main" val="4276725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9144000" cy="508159"/>
          </a:xfrm>
          <a:prstGeom prst="rect">
            <a:avLst/>
          </a:prstGeom>
          <a:solidFill>
            <a:schemeClr val="accent1">
              <a:lumMod val="75000"/>
            </a:schemeClr>
          </a:solidFill>
          <a:ln>
            <a:noFill/>
          </a:ln>
          <a:effectLst>
            <a:softEdge rad="127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6" name="文本框 5"/>
          <p:cNvSpPr txBox="1"/>
          <p:nvPr/>
        </p:nvSpPr>
        <p:spPr>
          <a:xfrm>
            <a:off x="139065" y="46990"/>
            <a:ext cx="3871595" cy="414020"/>
          </a:xfrm>
          <a:prstGeom prst="rect">
            <a:avLst/>
          </a:prstGeom>
          <a:noFill/>
        </p:spPr>
        <p:txBody>
          <a:bodyPr wrap="square" rtlCol="0">
            <a:spAutoFit/>
          </a:bodyPr>
          <a:lstStyle/>
          <a:p>
            <a:r>
              <a:rPr lang="zh-CN" altLang="en-US" sz="2100" b="1">
                <a:solidFill>
                  <a:schemeClr val="bg1"/>
                </a:solidFill>
                <a:sym typeface="+mn-ea"/>
              </a:rPr>
              <a:t>方案构思</a:t>
            </a:r>
            <a:r>
              <a:rPr lang="en-US" altLang="zh-CN" sz="2100" b="1">
                <a:solidFill>
                  <a:schemeClr val="bg1"/>
                </a:solidFill>
              </a:rPr>
              <a:t>-</a:t>
            </a:r>
            <a:r>
              <a:rPr lang="zh-CN" altLang="en-US" b="1">
                <a:solidFill>
                  <a:schemeClr val="bg1"/>
                </a:solidFill>
              </a:rPr>
              <a:t>机械臂焊前轨迹规划</a:t>
            </a:r>
          </a:p>
        </p:txBody>
      </p:sp>
      <p:sp>
        <p:nvSpPr>
          <p:cNvPr id="4" name="文本框 3"/>
          <p:cNvSpPr txBox="1"/>
          <p:nvPr/>
        </p:nvSpPr>
        <p:spPr>
          <a:xfrm>
            <a:off x="78740" y="550545"/>
            <a:ext cx="5038725" cy="398780"/>
          </a:xfrm>
          <a:prstGeom prst="rect">
            <a:avLst/>
          </a:prstGeom>
          <a:noFill/>
        </p:spPr>
        <p:txBody>
          <a:bodyPr wrap="square" rtlCol="0">
            <a:spAutoFit/>
          </a:bodyPr>
          <a:lstStyle/>
          <a:p>
            <a:pPr marL="285750" indent="-285750">
              <a:buFont typeface="Wingdings" panose="05000000000000000000" charset="0"/>
              <a:buChar char="Ø"/>
            </a:pPr>
            <a:r>
              <a:rPr lang="zh-CN" altLang="en-US" sz="2000" b="1"/>
              <a:t>基于模板匹配的算法</a:t>
            </a:r>
          </a:p>
        </p:txBody>
      </p:sp>
      <p:graphicFrame>
        <p:nvGraphicFramePr>
          <p:cNvPr id="9" name="对象 8">
            <a:hlinkClick r:id="" action="ppaction://ole?verb=0"/>
          </p:cNvPr>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r:id="rId3" imgW="114300" imgH="215900" progId="Equation.KSEE3">
                  <p:embed/>
                </p:oleObj>
              </mc:Choice>
              <mc:Fallback>
                <p:oleObj r:id="rId3" imgW="114300" imgH="215900" progId="Equation.KSEE3">
                  <p:embed/>
                  <p:pic>
                    <p:nvPicPr>
                      <p:cNvPr id="9" name="对象 8">
                        <a:hlinkClick r:id="" action="ppaction://ole?verb=0"/>
                      </p:cNvPr>
                      <p:cNvPicPr/>
                      <p:nvPr/>
                    </p:nvPicPr>
                    <p:blipFill>
                      <a:blip r:embed="rId4"/>
                      <a:stretch>
                        <a:fillRect/>
                      </a:stretch>
                    </p:blipFill>
                    <p:spPr>
                      <a:xfrm>
                        <a:off x="4514850" y="3321050"/>
                        <a:ext cx="114300" cy="215900"/>
                      </a:xfrm>
                      <a:prstGeom prst="rect">
                        <a:avLst/>
                      </a:prstGeom>
                    </p:spPr>
                  </p:pic>
                </p:oleObj>
              </mc:Fallback>
            </mc:AlternateContent>
          </a:graphicData>
        </a:graphic>
      </p:graphicFrame>
      <p:sp>
        <p:nvSpPr>
          <p:cNvPr id="10" name="文本框 9"/>
          <p:cNvSpPr txBox="1"/>
          <p:nvPr/>
        </p:nvSpPr>
        <p:spPr>
          <a:xfrm>
            <a:off x="234950" y="1038860"/>
            <a:ext cx="8507730" cy="5354320"/>
          </a:xfrm>
          <a:prstGeom prst="rect">
            <a:avLst/>
          </a:prstGeom>
          <a:noFill/>
        </p:spPr>
        <p:txBody>
          <a:bodyPr wrap="square" rtlCol="0" anchor="t">
            <a:spAutoFit/>
          </a:bodyPr>
          <a:lstStyle/>
          <a:p>
            <a:r>
              <a:rPr lang="zh-CN" altLang="en-US" b="1"/>
              <a:t>【离线阶段</a:t>
            </a:r>
            <a:r>
              <a:rPr lang="en-US" altLang="zh-CN" b="1"/>
              <a:t> - </a:t>
            </a:r>
            <a:r>
              <a:rPr lang="zh-CN" altLang="en-US" b="1"/>
              <a:t>数据库构建】</a:t>
            </a:r>
          </a:p>
          <a:p>
            <a:r>
              <a:rPr lang="en-US" altLang="zh-CN"/>
              <a:t>  pose_mapping_config.json</a:t>
            </a:r>
            <a:r>
              <a:rPr lang="zh-CN" altLang="en-US"/>
              <a:t>（人工定义映射规则）</a:t>
            </a:r>
          </a:p>
          <a:p>
            <a:r>
              <a:rPr lang="en-US" altLang="zh-CN"/>
              <a:t>       </a:t>
            </a:r>
            <a:r>
              <a:rPr lang="en-US" altLang="en-US"/>
              <a:t>↓</a:t>
            </a:r>
          </a:p>
          <a:p>
            <a:r>
              <a:rPr lang="en-US" altLang="zh-CN"/>
              <a:t>  pose_matcher.py --build </a:t>
            </a:r>
            <a:r>
              <a:rPr lang="en-US" altLang="en-US"/>
              <a:t>→</a:t>
            </a:r>
            <a:r>
              <a:rPr lang="en-US" altLang="zh-CN"/>
              <a:t> pose_database.json</a:t>
            </a:r>
          </a:p>
          <a:p>
            <a:r>
              <a:rPr lang="en-US" altLang="zh-CN"/>
              <a:t>       </a:t>
            </a:r>
            <a:r>
              <a:rPr lang="en-US" altLang="en-US"/>
              <a:t>↓</a:t>
            </a:r>
          </a:p>
          <a:p>
            <a:r>
              <a:rPr lang="en-US" altLang="zh-CN"/>
              <a:t>  pose_generator.py </a:t>
            </a:r>
            <a:r>
              <a:rPr lang="en-US" altLang="en-US"/>
              <a:t>→</a:t>
            </a:r>
            <a:r>
              <a:rPr lang="en-US" altLang="zh-CN"/>
              <a:t> </a:t>
            </a:r>
            <a:r>
              <a:rPr lang="zh-CN" altLang="en-US"/>
              <a:t>为每个延伸类型生成</a:t>
            </a:r>
            <a:r>
              <a:rPr lang="en-US" altLang="zh-CN"/>
              <a:t> matched_torch_poses.json + weld_segments_result.json</a:t>
            </a:r>
          </a:p>
          <a:p>
            <a:endParaRPr lang="en-US" altLang="zh-CN"/>
          </a:p>
          <a:p>
            <a:r>
              <a:rPr lang="zh-CN" altLang="en-US" b="1"/>
              <a:t>【在线阶段</a:t>
            </a:r>
            <a:r>
              <a:rPr lang="en-US" altLang="zh-CN" b="1"/>
              <a:t> - </a:t>
            </a:r>
            <a:r>
              <a:rPr lang="zh-CN" altLang="en-US" b="1"/>
              <a:t>新场景匹配】</a:t>
            </a:r>
          </a:p>
          <a:p>
            <a:r>
              <a:rPr lang="en-US" altLang="zh-CN"/>
              <a:t>  </a:t>
            </a:r>
            <a:r>
              <a:rPr lang="zh-CN" altLang="en-US"/>
              <a:t>传感器采集</a:t>
            </a:r>
            <a:r>
              <a:rPr lang="en-US" altLang="zh-CN"/>
              <a:t> </a:t>
            </a:r>
            <a:r>
              <a:rPr lang="en-US" altLang="en-US"/>
              <a:t>→</a:t>
            </a:r>
            <a:r>
              <a:rPr lang="en-US" altLang="zh-CN"/>
              <a:t> capture_welds_trajectory.json</a:t>
            </a:r>
          </a:p>
          <a:p>
            <a:r>
              <a:rPr lang="en-US" altLang="zh-CN"/>
              <a:t>       </a:t>
            </a:r>
            <a:r>
              <a:rPr lang="en-US" altLang="en-US"/>
              <a:t>↓</a:t>
            </a:r>
          </a:p>
          <a:p>
            <a:r>
              <a:rPr lang="en-US" altLang="zh-CN"/>
              <a:t>  3_3 </a:t>
            </a:r>
            <a:r>
              <a:rPr lang="zh-CN" altLang="en-US"/>
              <a:t>合并碎片焊缝（容错预处理）</a:t>
            </a:r>
          </a:p>
          <a:p>
            <a:r>
              <a:rPr lang="en-US" altLang="zh-CN"/>
              <a:t>       </a:t>
            </a:r>
            <a:r>
              <a:rPr lang="en-US" altLang="en-US"/>
              <a:t>↓</a:t>
            </a:r>
          </a:p>
          <a:p>
            <a:r>
              <a:rPr lang="en-US" altLang="zh-CN"/>
              <a:t>  2_3 </a:t>
            </a:r>
            <a:r>
              <a:rPr lang="zh-CN" altLang="en-US"/>
              <a:t>分段</a:t>
            </a:r>
            <a:r>
              <a:rPr lang="en-US" altLang="zh-CN"/>
              <a:t> </a:t>
            </a:r>
            <a:r>
              <a:rPr lang="en-US" altLang="en-US"/>
              <a:t>→</a:t>
            </a:r>
            <a:r>
              <a:rPr lang="en-US" altLang="zh-CN"/>
              <a:t> weld_segments_result.json</a:t>
            </a:r>
          </a:p>
          <a:p>
            <a:r>
              <a:rPr lang="en-US" altLang="zh-CN"/>
              <a:t>       </a:t>
            </a:r>
            <a:r>
              <a:rPr lang="en-US" altLang="en-US"/>
              <a:t>↓</a:t>
            </a:r>
          </a:p>
          <a:p>
            <a:r>
              <a:rPr lang="en-US" altLang="zh-CN"/>
              <a:t>  </a:t>
            </a:r>
            <a:r>
              <a:rPr lang="zh-CN" altLang="en-US"/>
              <a:t>确定组合代码（调试模式（人工输入）</a:t>
            </a:r>
            <a:r>
              <a:rPr lang="en-US" altLang="zh-CN"/>
              <a:t> / </a:t>
            </a:r>
            <a:r>
              <a:rPr lang="zh-CN" altLang="en-US"/>
              <a:t>自主判断模式）</a:t>
            </a:r>
          </a:p>
          <a:p>
            <a:r>
              <a:rPr lang="en-US" altLang="zh-CN"/>
              <a:t>       </a:t>
            </a:r>
            <a:r>
              <a:rPr lang="en-US" altLang="en-US"/>
              <a:t>↓</a:t>
            </a:r>
          </a:p>
          <a:p>
            <a:r>
              <a:rPr lang="en-US" altLang="zh-CN"/>
              <a:t>  2_6 </a:t>
            </a:r>
            <a:r>
              <a:rPr lang="zh-CN" altLang="en-US"/>
              <a:t>用该延伸类型的模板做点对点姿态匹配</a:t>
            </a:r>
            <a:r>
              <a:rPr lang="en-US" altLang="zh-CN"/>
              <a:t> </a:t>
            </a:r>
            <a:r>
              <a:rPr lang="en-US" altLang="en-US"/>
              <a:t>→</a:t>
            </a:r>
            <a:r>
              <a:rPr lang="en-US" altLang="zh-CN"/>
              <a:t> matched_torch_poses.json </a:t>
            </a:r>
            <a:r>
              <a:rPr lang="en-US" altLang="en-US"/>
              <a:t>→</a:t>
            </a:r>
            <a:r>
              <a:rPr lang="en-US" altLang="zh-CN"/>
              <a:t> </a:t>
            </a:r>
            <a:r>
              <a:rPr lang="zh-CN" altLang="en-US"/>
              <a:t>发给机器人</a:t>
            </a: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9144000" cy="508159"/>
          </a:xfrm>
          <a:prstGeom prst="rect">
            <a:avLst/>
          </a:prstGeom>
          <a:solidFill>
            <a:schemeClr val="accent1">
              <a:lumMod val="75000"/>
            </a:schemeClr>
          </a:solidFill>
          <a:ln>
            <a:noFill/>
          </a:ln>
          <a:effectLst>
            <a:softEdge rad="127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6" name="文本框 5"/>
          <p:cNvSpPr txBox="1"/>
          <p:nvPr/>
        </p:nvSpPr>
        <p:spPr>
          <a:xfrm>
            <a:off x="139065" y="46990"/>
            <a:ext cx="3871595" cy="414020"/>
          </a:xfrm>
          <a:prstGeom prst="rect">
            <a:avLst/>
          </a:prstGeom>
          <a:noFill/>
        </p:spPr>
        <p:txBody>
          <a:bodyPr wrap="square" rtlCol="0">
            <a:spAutoFit/>
          </a:bodyPr>
          <a:lstStyle/>
          <a:p>
            <a:r>
              <a:rPr lang="zh-CN" altLang="en-US" sz="2100" b="1">
                <a:solidFill>
                  <a:schemeClr val="bg1"/>
                </a:solidFill>
                <a:sym typeface="+mn-ea"/>
              </a:rPr>
              <a:t>方案构思</a:t>
            </a:r>
            <a:r>
              <a:rPr lang="en-US" altLang="zh-CN" sz="2100" b="1">
                <a:solidFill>
                  <a:schemeClr val="bg1"/>
                </a:solidFill>
              </a:rPr>
              <a:t>-</a:t>
            </a:r>
            <a:r>
              <a:rPr lang="zh-CN" altLang="en-US" b="1">
                <a:solidFill>
                  <a:schemeClr val="bg1"/>
                </a:solidFill>
              </a:rPr>
              <a:t>机械臂焊前轨迹规划</a:t>
            </a:r>
          </a:p>
        </p:txBody>
      </p:sp>
      <p:sp>
        <p:nvSpPr>
          <p:cNvPr id="4" name="文本框 3"/>
          <p:cNvSpPr txBox="1"/>
          <p:nvPr/>
        </p:nvSpPr>
        <p:spPr>
          <a:xfrm>
            <a:off x="78740" y="550545"/>
            <a:ext cx="5038725" cy="398780"/>
          </a:xfrm>
          <a:prstGeom prst="rect">
            <a:avLst/>
          </a:prstGeom>
          <a:noFill/>
        </p:spPr>
        <p:txBody>
          <a:bodyPr wrap="square" rtlCol="0">
            <a:spAutoFit/>
          </a:bodyPr>
          <a:lstStyle/>
          <a:p>
            <a:pPr marL="285750" indent="-285750">
              <a:buFont typeface="Wingdings" panose="05000000000000000000" charset="0"/>
              <a:buChar char="Ø"/>
            </a:pPr>
            <a:r>
              <a:rPr lang="zh-CN" altLang="en-US" sz="2000" b="1"/>
              <a:t>基于</a:t>
            </a:r>
            <a:r>
              <a:rPr lang="en-US" altLang="zh-CN" sz="2000" b="1"/>
              <a:t>CBF-QP</a:t>
            </a:r>
            <a:r>
              <a:rPr lang="zh-CN" altLang="en-US" sz="2000" b="1"/>
              <a:t>的</a:t>
            </a:r>
            <a:r>
              <a:rPr lang="en-US" altLang="zh-CN" sz="2000" b="1"/>
              <a:t>Safety Critical </a:t>
            </a:r>
            <a:r>
              <a:rPr lang="zh-CN" altLang="en-US" sz="2000" b="1"/>
              <a:t>算法</a:t>
            </a:r>
          </a:p>
        </p:txBody>
      </p:sp>
      <p:sp>
        <p:nvSpPr>
          <p:cNvPr id="7" name="矩形 6"/>
          <p:cNvSpPr/>
          <p:nvPr/>
        </p:nvSpPr>
        <p:spPr>
          <a:xfrm>
            <a:off x="212725" y="991870"/>
            <a:ext cx="8620760" cy="513080"/>
          </a:xfrm>
          <a:prstGeom prst="rect">
            <a:avLst/>
          </a:prstGeom>
          <a:solidFill>
            <a:schemeClr val="bg2">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a:t>本质上</a:t>
            </a:r>
            <a:r>
              <a:rPr lang="en-US" altLang="zh-CN" sz="1600"/>
              <a:t>CBF-QP</a:t>
            </a:r>
            <a:r>
              <a:rPr lang="zh-CN" altLang="en-US" sz="1600"/>
              <a:t>属于一种</a:t>
            </a:r>
            <a:r>
              <a:rPr lang="zh-CN" altLang="en-US" sz="1600" b="1"/>
              <a:t>安全滤波器</a:t>
            </a:r>
            <a:r>
              <a:rPr lang="zh-CN" altLang="en-US" sz="1600"/>
              <a:t>，输入可能导致干涉的控制信号，输出安全控制信号</a:t>
            </a:r>
          </a:p>
        </p:txBody>
      </p:sp>
      <mc:AlternateContent xmlns:mc="http://schemas.openxmlformats.org/markup-compatibility/2006" xmlns:a14="http://schemas.microsoft.com/office/drawing/2010/main">
        <mc:Choice Requires="a14">
          <p:sp>
            <p:nvSpPr>
              <p:cNvPr id="8" name="文本框 7"/>
              <p:cNvSpPr txBox="1"/>
              <p:nvPr/>
            </p:nvSpPr>
            <p:spPr>
              <a:xfrm>
                <a:off x="211639" y="1504950"/>
                <a:ext cx="8835022" cy="2668423"/>
              </a:xfrm>
              <a:prstGeom prst="rect">
                <a:avLst/>
              </a:prstGeom>
              <a:noFill/>
            </p:spPr>
            <p:txBody>
              <a:bodyPr wrap="square" rtlCol="0">
                <a:spAutoFit/>
              </a:bodyPr>
              <a:lstStyle/>
              <a:p>
                <a:pPr>
                  <a:lnSpc>
                    <a:spcPct val="150000"/>
                  </a:lnSpc>
                </a:pPr>
                <a:r>
                  <a:rPr lang="zh-CN" altLang="en-US" sz="1400" dirty="0"/>
                  <a:t>存在状态空间</a:t>
                </a:r>
                <a:r>
                  <a:rPr lang="en-US" altLang="zh-CN" sz="1400" dirty="0"/>
                  <a:t>X</a:t>
                </a:r>
                <a:r>
                  <a:rPr lang="zh-CN" altLang="en-US" sz="1400" dirty="0"/>
                  <a:t>，建立</a:t>
                </a:r>
                <a:r>
                  <a:rPr lang="en-US" altLang="zh-CN" sz="1400" dirty="0"/>
                  <a:t>CBF</a:t>
                </a:r>
                <a:r>
                  <a:rPr lang="zh-CN" altLang="en-US" sz="1400" dirty="0"/>
                  <a:t>函数</a:t>
                </a:r>
                <a:r>
                  <a:rPr lang="en-US" altLang="zh-CN" sz="1400" dirty="0"/>
                  <a:t>h(x)</a:t>
                </a:r>
              </a:p>
              <a:p>
                <a:pPr>
                  <a:lnSpc>
                    <a:spcPct val="150000"/>
                  </a:lnSpc>
                </a:pPr>
                <a:r>
                  <a:rPr lang="zh-CN" altLang="en-US" sz="1400" dirty="0"/>
                  <a:t>安全状态空间</a:t>
                </a:r>
                <a:r>
                  <a:rPr lang="en-US" altLang="zh-CN" sz="1400" dirty="0"/>
                  <a:t>S = {x</a:t>
                </a:r>
                <a14:m>
                  <m:oMath xmlns:m="http://schemas.openxmlformats.org/officeDocument/2006/math">
                    <m:r>
                      <a:rPr lang="en-US" altLang="zh-CN" sz="1400" i="1">
                        <a:latin typeface="Cambria Math" panose="02040503050406030204" charset="0"/>
                        <a:cs typeface="Cambria Math" panose="02040503050406030204" charset="0"/>
                      </a:rPr>
                      <m:t>∈</m:t>
                    </m:r>
                  </m:oMath>
                </a14:m>
                <a:r>
                  <a:rPr lang="en-US" altLang="zh-CN" sz="1400" dirty="0" err="1"/>
                  <a:t>X|h</a:t>
                </a:r>
                <a:r>
                  <a:rPr lang="en-US" altLang="zh-CN" sz="1400" dirty="0"/>
                  <a:t>(x)&gt;0}</a:t>
                </a:r>
              </a:p>
              <a:p>
                <a:pPr>
                  <a:lnSpc>
                    <a:spcPct val="150000"/>
                  </a:lnSpc>
                </a:pPr>
                <a:r>
                  <a:rPr lang="zh-CN" altLang="en-US" sz="1400" dirty="0"/>
                  <a:t>如果需要状态始终处于安全状态空间</a:t>
                </a:r>
              </a:p>
              <a:p>
                <a:pPr>
                  <a:lnSpc>
                    <a:spcPct val="150000"/>
                  </a:lnSpc>
                </a:pPr>
                <a:r>
                  <a:rPr lang="zh-CN" altLang="en-US" sz="1400" dirty="0"/>
                  <a:t>直观的可以想到</a:t>
                </a:r>
                <a14:m>
                  <m:oMath xmlns:m="http://schemas.openxmlformats.org/officeDocument/2006/math">
                    <m:sSup>
                      <m:sSupPr>
                        <m:ctrlPr>
                          <a:rPr lang="en-US" altLang="zh-CN" sz="1400" i="1">
                            <a:latin typeface="Cambria Math" panose="02040503050406030204" pitchFamily="18" charset="0"/>
                            <a:cs typeface="Cambria Math" panose="02040503050406030204" charset="0"/>
                          </a:rPr>
                        </m:ctrlPr>
                      </m:sSupPr>
                      <m:e>
                        <m:r>
                          <a:rPr lang="en-US" altLang="zh-CN" sz="1400" i="1">
                            <a:latin typeface="Cambria Math" panose="02040503050406030204" charset="0"/>
                            <a:cs typeface="Cambria Math" panose="02040503050406030204" charset="0"/>
                          </a:rPr>
                          <m:t>h</m:t>
                        </m:r>
                      </m:e>
                      <m:sup>
                        <m:r>
                          <a:rPr lang="en-US" altLang="zh-CN" sz="1400" i="1">
                            <a:latin typeface="Cambria Math" panose="02040503050406030204" charset="0"/>
                            <a:cs typeface="Cambria Math" panose="02040503050406030204" charset="0"/>
                          </a:rPr>
                          <m:t>’</m:t>
                        </m:r>
                      </m:sup>
                    </m:sSup>
                    <m:r>
                      <a:rPr lang="en-US" altLang="zh-CN" sz="1400" i="1">
                        <a:latin typeface="Cambria Math" panose="02040503050406030204" charset="0"/>
                        <a:cs typeface="Cambria Math" panose="02040503050406030204" charset="0"/>
                      </a:rPr>
                      <m:t>(</m:t>
                    </m:r>
                    <m:r>
                      <a:rPr lang="en-US" altLang="zh-CN" sz="1400" i="1">
                        <a:latin typeface="Cambria Math" panose="02040503050406030204" charset="0"/>
                        <a:cs typeface="Cambria Math" panose="02040503050406030204" charset="0"/>
                      </a:rPr>
                      <m:t>𝑥</m:t>
                    </m:r>
                    <m:r>
                      <a:rPr lang="en-US" altLang="zh-CN" sz="1400" i="1">
                        <a:latin typeface="Cambria Math" panose="02040503050406030204" charset="0"/>
                        <a:cs typeface="Cambria Math" panose="02040503050406030204" charset="0"/>
                      </a:rPr>
                      <m:t>)=−</m:t>
                    </m:r>
                    <m:r>
                      <a:rPr lang="en-US" altLang="zh-CN" sz="1400" i="1">
                        <a:latin typeface="Cambria Math" panose="02040503050406030204" charset="0"/>
                        <a:cs typeface="Cambria Math" panose="02040503050406030204" charset="0"/>
                      </a:rPr>
                      <m:t>𝛼</m:t>
                    </m:r>
                    <m:r>
                      <a:rPr lang="en-US" altLang="zh-CN" sz="1400" i="1">
                        <a:latin typeface="Cambria Math" panose="02040503050406030204" charset="0"/>
                        <a:cs typeface="Cambria Math" panose="02040503050406030204" charset="0"/>
                      </a:rPr>
                      <m:t>[</m:t>
                    </m:r>
                    <m:r>
                      <a:rPr lang="en-US" altLang="zh-CN" sz="1400" i="1">
                        <a:latin typeface="Cambria Math" panose="02040503050406030204" charset="0"/>
                        <a:cs typeface="Cambria Math" panose="02040503050406030204" charset="0"/>
                      </a:rPr>
                      <m:t>h</m:t>
                    </m:r>
                    <m:r>
                      <a:rPr lang="en-US" altLang="zh-CN" sz="1400" i="1">
                        <a:latin typeface="Cambria Math" panose="02040503050406030204" charset="0"/>
                        <a:cs typeface="Cambria Math" panose="02040503050406030204" charset="0"/>
                      </a:rPr>
                      <m:t>(</m:t>
                    </m:r>
                    <m:r>
                      <a:rPr lang="en-US" altLang="zh-CN" sz="1400" i="1">
                        <a:latin typeface="Cambria Math" panose="02040503050406030204" charset="0"/>
                        <a:cs typeface="Cambria Math" panose="02040503050406030204" charset="0"/>
                      </a:rPr>
                      <m:t>𝑥</m:t>
                    </m:r>
                    <m:r>
                      <a:rPr lang="en-US" altLang="zh-CN" sz="1400" i="1">
                        <a:latin typeface="Cambria Math" panose="02040503050406030204" charset="0"/>
                        <a:cs typeface="Cambria Math" panose="02040503050406030204" charset="0"/>
                      </a:rPr>
                      <m:t>)]</m:t>
                    </m:r>
                  </m:oMath>
                </a14:m>
                <a:r>
                  <a:rPr lang="en-US" altLang="zh-CN" sz="1400" dirty="0"/>
                  <a:t>,</a:t>
                </a:r>
                <a:r>
                  <a:rPr lang="zh-CN" altLang="en-US" sz="1400" dirty="0"/>
                  <a:t>其中</a:t>
                </a:r>
                <a14:m>
                  <m:oMath xmlns:m="http://schemas.openxmlformats.org/officeDocument/2006/math">
                    <m:r>
                      <a:rPr lang="en-US" altLang="zh-CN" sz="1400" i="1">
                        <a:latin typeface="Cambria Math" panose="02040503050406030204" charset="0"/>
                        <a:cs typeface="Cambria Math" panose="02040503050406030204" charset="0"/>
                      </a:rPr>
                      <m:t>𝛼</m:t>
                    </m:r>
                    <m:r>
                      <a:rPr lang="en-US" altLang="zh-CN" sz="1400" i="1">
                        <a:latin typeface="Cambria Math" panose="02040503050406030204" charset="0"/>
                        <a:cs typeface="Cambria Math" panose="02040503050406030204" charset="0"/>
                      </a:rPr>
                      <m:t>(</m:t>
                    </m:r>
                    <m:r>
                      <a:rPr lang="en-US" altLang="zh-CN" sz="1400" i="1">
                        <a:latin typeface="Cambria Math" panose="02040503050406030204" charset="0"/>
                        <a:cs typeface="Cambria Math" panose="02040503050406030204" charset="0"/>
                      </a:rPr>
                      <m:t>𝑥</m:t>
                    </m:r>
                    <m:r>
                      <a:rPr lang="en-US" altLang="zh-CN" sz="1400" i="1">
                        <a:latin typeface="Cambria Math" panose="02040503050406030204" charset="0"/>
                        <a:cs typeface="Cambria Math" panose="02040503050406030204" charset="0"/>
                      </a:rPr>
                      <m:t>)</m:t>
                    </m:r>
                  </m:oMath>
                </a14:m>
                <a:r>
                  <a:rPr lang="zh-CN" altLang="en-US" sz="1400" dirty="0">
                    <a:latin typeface="Cambria Math" panose="02040503050406030204" charset="0"/>
                    <a:cs typeface="Cambria Math" panose="02040503050406030204" charset="0"/>
                  </a:rPr>
                  <a:t>过原点且单调递增</a:t>
                </a:r>
              </a:p>
              <a:p>
                <a:pPr>
                  <a:lnSpc>
                    <a:spcPct val="150000"/>
                  </a:lnSpc>
                </a:pPr>
                <a:r>
                  <a:rPr lang="zh-CN" altLang="en-US" sz="1400" dirty="0">
                    <a:latin typeface="Cambria Math" panose="02040503050406030204" charset="0"/>
                    <a:cs typeface="Cambria Math" panose="02040503050406030204" charset="0"/>
                  </a:rPr>
                  <a:t>为保证低侵入性，松弛化条件为</a:t>
                </a:r>
                <a14:m>
                  <m:oMath xmlns:m="http://schemas.openxmlformats.org/officeDocument/2006/math">
                    <m:sSub>
                      <m:sSubPr>
                        <m:ctrlPr>
                          <a:rPr lang="zh-CN" altLang="en-US" sz="1400" i="1">
                            <a:latin typeface="Cambria Math" panose="02040503050406030204" pitchFamily="18" charset="0"/>
                            <a:cs typeface="Cambria Math" panose="02040503050406030204" charset="0"/>
                          </a:rPr>
                        </m:ctrlPr>
                      </m:sSubPr>
                      <m:e>
                        <m:r>
                          <a:rPr lang="en-US" altLang="zh-CN" sz="1400" i="1">
                            <a:latin typeface="Cambria Math" panose="02040503050406030204" charset="0"/>
                            <a:cs typeface="Cambria Math" panose="02040503050406030204" charset="0"/>
                          </a:rPr>
                          <m:t>𝑠𝑢𝑝</m:t>
                        </m:r>
                      </m:e>
                      <m:sub>
                        <m:r>
                          <a:rPr lang="en-US" altLang="zh-CN" sz="1400" i="1">
                            <a:latin typeface="Cambria Math" panose="02040503050406030204" charset="0"/>
                            <a:cs typeface="Cambria Math" panose="02040503050406030204" charset="0"/>
                          </a:rPr>
                          <m:t>𝑢</m:t>
                        </m:r>
                        <m:r>
                          <a:rPr lang="en-US" altLang="zh-CN" sz="1400" i="1">
                            <a:latin typeface="Cambria Math" panose="02040503050406030204" charset="0"/>
                            <a:cs typeface="Cambria Math" panose="02040503050406030204" charset="0"/>
                          </a:rPr>
                          <m:t>∈</m:t>
                        </m:r>
                        <m:r>
                          <a:rPr lang="en-US" altLang="zh-CN" sz="1400" i="1">
                            <a:latin typeface="Cambria Math" panose="02040503050406030204" charset="0"/>
                            <a:cs typeface="Cambria Math" panose="02040503050406030204" charset="0"/>
                          </a:rPr>
                          <m:t>𝑈</m:t>
                        </m:r>
                      </m:sub>
                    </m:sSub>
                    <m:sSup>
                      <m:sSupPr>
                        <m:ctrlPr>
                          <a:rPr lang="en-US" altLang="zh-CN" sz="1400" i="1">
                            <a:latin typeface="Cambria Math" panose="02040503050406030204" pitchFamily="18" charset="0"/>
                            <a:cs typeface="Cambria Math" panose="02040503050406030204" charset="0"/>
                          </a:rPr>
                        </m:ctrlPr>
                      </m:sSupPr>
                      <m:e>
                        <m:r>
                          <a:rPr lang="en-US" altLang="zh-CN" sz="1400" i="1">
                            <a:latin typeface="Cambria Math" panose="02040503050406030204" charset="0"/>
                            <a:cs typeface="Cambria Math" panose="02040503050406030204" charset="0"/>
                          </a:rPr>
                          <m:t>h</m:t>
                        </m:r>
                      </m:e>
                      <m:sup>
                        <m:r>
                          <a:rPr lang="en-US" altLang="zh-CN" sz="1400" i="1">
                            <a:latin typeface="Cambria Math" panose="02040503050406030204" charset="0"/>
                            <a:cs typeface="Cambria Math" panose="02040503050406030204" charset="0"/>
                          </a:rPr>
                          <m:t>’</m:t>
                        </m:r>
                      </m:sup>
                    </m:sSup>
                    <m:r>
                      <a:rPr lang="en-US" altLang="zh-CN" sz="1400" i="1">
                        <a:latin typeface="Cambria Math" panose="02040503050406030204" charset="0"/>
                        <a:cs typeface="Cambria Math" panose="02040503050406030204" charset="0"/>
                      </a:rPr>
                      <m:t>(</m:t>
                    </m:r>
                    <m:r>
                      <a:rPr lang="en-US" altLang="zh-CN" sz="1400" i="1">
                        <a:latin typeface="Cambria Math" panose="02040503050406030204" charset="0"/>
                        <a:cs typeface="Cambria Math" panose="02040503050406030204" charset="0"/>
                      </a:rPr>
                      <m:t>𝑥</m:t>
                    </m:r>
                    <m:r>
                      <a:rPr lang="en-US" altLang="zh-CN" sz="1400" i="1">
                        <a:latin typeface="Cambria Math" panose="02040503050406030204" charset="0"/>
                        <a:cs typeface="Cambria Math" panose="02040503050406030204" charset="0"/>
                      </a:rPr>
                      <m:t>,</m:t>
                    </m:r>
                    <m:r>
                      <a:rPr lang="en-US" altLang="zh-CN" sz="1400" i="1">
                        <a:latin typeface="Cambria Math" panose="02040503050406030204" charset="0"/>
                        <a:cs typeface="Cambria Math" panose="02040503050406030204" charset="0"/>
                      </a:rPr>
                      <m:t>𝑢</m:t>
                    </m:r>
                    <m:r>
                      <a:rPr lang="en-US" altLang="zh-CN" sz="1400" i="1">
                        <a:latin typeface="Cambria Math" panose="02040503050406030204" charset="0"/>
                        <a:cs typeface="Cambria Math" panose="02040503050406030204" charset="0"/>
                      </a:rPr>
                      <m:t>)&gt;−</m:t>
                    </m:r>
                    <m:r>
                      <a:rPr lang="en-US" altLang="zh-CN" sz="1400" i="1">
                        <a:latin typeface="Cambria Math" panose="02040503050406030204" charset="0"/>
                        <a:cs typeface="Cambria Math" panose="02040503050406030204" charset="0"/>
                      </a:rPr>
                      <m:t>𝛼</m:t>
                    </m:r>
                    <m:r>
                      <a:rPr lang="en-US" altLang="zh-CN" sz="1400" i="1">
                        <a:latin typeface="Cambria Math" panose="02040503050406030204" charset="0"/>
                        <a:cs typeface="Cambria Math" panose="02040503050406030204" charset="0"/>
                      </a:rPr>
                      <m:t>[</m:t>
                    </m:r>
                    <m:r>
                      <a:rPr lang="en-US" altLang="zh-CN" sz="1400" i="1">
                        <a:latin typeface="Cambria Math" panose="02040503050406030204" charset="0"/>
                        <a:cs typeface="Cambria Math" panose="02040503050406030204" charset="0"/>
                      </a:rPr>
                      <m:t>h</m:t>
                    </m:r>
                    <m:r>
                      <a:rPr lang="en-US" altLang="zh-CN" sz="1400" i="1">
                        <a:latin typeface="Cambria Math" panose="02040503050406030204" charset="0"/>
                        <a:cs typeface="Cambria Math" panose="02040503050406030204" charset="0"/>
                      </a:rPr>
                      <m:t>(</m:t>
                    </m:r>
                    <m:r>
                      <a:rPr lang="en-US" altLang="zh-CN" sz="1400" i="1">
                        <a:latin typeface="Cambria Math" panose="02040503050406030204" charset="0"/>
                        <a:cs typeface="Cambria Math" panose="02040503050406030204" charset="0"/>
                      </a:rPr>
                      <m:t>𝑥</m:t>
                    </m:r>
                    <m:r>
                      <a:rPr lang="en-US" altLang="zh-CN" sz="1400" i="1">
                        <a:latin typeface="Cambria Math" panose="02040503050406030204" charset="0"/>
                        <a:cs typeface="Cambria Math" panose="02040503050406030204" charset="0"/>
                      </a:rPr>
                      <m:t>)]</m:t>
                    </m:r>
                  </m:oMath>
                </a14:m>
                <a:r>
                  <a:rPr lang="en-US" altLang="zh-CN" sz="1400" dirty="0">
                    <a:latin typeface="Cambria Math" panose="02040503050406030204" charset="0"/>
                    <a:cs typeface="Cambria Math" panose="02040503050406030204" charset="0"/>
                  </a:rPr>
                  <a:t>(</a:t>
                </a:r>
                <a:r>
                  <a:rPr lang="zh-CN" altLang="en-US" sz="1400" dirty="0">
                    <a:latin typeface="Cambria Math" panose="02040503050406030204" charset="0"/>
                    <a:cs typeface="Cambria Math" panose="02040503050406030204" charset="0"/>
                  </a:rPr>
                  <a:t>不等式松弛化</a:t>
                </a:r>
                <a:r>
                  <a:rPr lang="en-US" altLang="zh-CN" sz="1400" dirty="0">
                    <a:latin typeface="Cambria Math" panose="02040503050406030204" charset="0"/>
                    <a:cs typeface="Cambria Math" panose="02040503050406030204" charset="0"/>
                  </a:rPr>
                  <a:t>)</a:t>
                </a:r>
                <a:endParaRPr lang="zh-CN" altLang="en-US" sz="1400" dirty="0">
                  <a:latin typeface="Cambria Math" panose="02040503050406030204" charset="0"/>
                  <a:cs typeface="Cambria Math" panose="02040503050406030204" charset="0"/>
                </a:endParaRPr>
              </a:p>
              <a:p>
                <a:pPr>
                  <a:lnSpc>
                    <a:spcPct val="150000"/>
                  </a:lnSpc>
                </a:pPr>
                <a:r>
                  <a:rPr lang="zh-CN" altLang="en-US" sz="1400" dirty="0">
                    <a:latin typeface="Cambria Math" panose="02040503050406030204" charset="0"/>
                    <a:cs typeface="Cambria Math" panose="02040503050406030204" charset="0"/>
                  </a:rPr>
                  <a:t>只要在边界处保证</a:t>
                </a:r>
                <a14:m>
                  <m:oMath xmlns:m="http://schemas.openxmlformats.org/officeDocument/2006/math">
                    <m:sSup>
                      <m:sSupPr>
                        <m:ctrlPr>
                          <a:rPr lang="en-US" altLang="zh-CN" sz="1400" i="1">
                            <a:latin typeface="Cambria Math" panose="02040503050406030204" pitchFamily="18" charset="0"/>
                            <a:cs typeface="Cambria Math" panose="02040503050406030204" charset="0"/>
                          </a:rPr>
                        </m:ctrlPr>
                      </m:sSupPr>
                      <m:e>
                        <m:r>
                          <a:rPr lang="en-US" altLang="zh-CN" sz="1400" i="1">
                            <a:latin typeface="Cambria Math" panose="02040503050406030204" charset="0"/>
                            <a:cs typeface="Cambria Math" panose="02040503050406030204" charset="0"/>
                          </a:rPr>
                          <m:t>h</m:t>
                        </m:r>
                      </m:e>
                      <m:sup>
                        <m:r>
                          <a:rPr lang="en-US" altLang="zh-CN" sz="1400" i="1">
                            <a:latin typeface="Cambria Math" panose="02040503050406030204" charset="0"/>
                            <a:cs typeface="Cambria Math" panose="02040503050406030204" charset="0"/>
                          </a:rPr>
                          <m:t>’</m:t>
                        </m:r>
                      </m:sup>
                    </m:sSup>
                    <m:r>
                      <a:rPr lang="en-US" altLang="zh-CN" sz="1400" i="1">
                        <a:latin typeface="Cambria Math" panose="02040503050406030204" charset="0"/>
                        <a:cs typeface="Cambria Math" panose="02040503050406030204" charset="0"/>
                      </a:rPr>
                      <m:t>(</m:t>
                    </m:r>
                    <m:r>
                      <a:rPr lang="en-US" altLang="zh-CN" sz="1400" i="1">
                        <a:latin typeface="Cambria Math" panose="02040503050406030204" charset="0"/>
                        <a:cs typeface="Cambria Math" panose="02040503050406030204" charset="0"/>
                      </a:rPr>
                      <m:t>𝑥</m:t>
                    </m:r>
                    <m:r>
                      <a:rPr lang="en-US" altLang="zh-CN" sz="1400" i="1">
                        <a:latin typeface="Cambria Math" panose="02040503050406030204" charset="0"/>
                        <a:cs typeface="Cambria Math" panose="02040503050406030204" charset="0"/>
                      </a:rPr>
                      <m:t>)&gt;0</m:t>
                    </m:r>
                  </m:oMath>
                </a14:m>
                <a:r>
                  <a:rPr lang="zh-CN" altLang="en-US" sz="1400" dirty="0">
                    <a:latin typeface="Cambria Math" panose="02040503050406030204" charset="0"/>
                    <a:cs typeface="Cambria Math" panose="02040503050406030204" charset="0"/>
                  </a:rPr>
                  <a:t>，且初始点保持在安全空间内，则具有前向不变性</a:t>
                </a:r>
                <a:r>
                  <a:rPr lang="en-US" altLang="zh-CN" sz="1400" dirty="0">
                    <a:latin typeface="Cambria Math" panose="02040503050406030204" charset="0"/>
                    <a:cs typeface="Cambria Math" panose="02040503050406030204" charset="0"/>
                  </a:rPr>
                  <a:t>(Nagumo</a:t>
                </a:r>
                <a:r>
                  <a:rPr lang="zh-CN" altLang="en-US" sz="1400" dirty="0">
                    <a:latin typeface="Cambria Math" panose="02040503050406030204" charset="0"/>
                    <a:cs typeface="Cambria Math" panose="02040503050406030204" charset="0"/>
                  </a:rPr>
                  <a:t>定理</a:t>
                </a:r>
                <a:r>
                  <a:rPr lang="en-US" altLang="zh-CN" sz="1400" dirty="0">
                    <a:latin typeface="Cambria Math" panose="02040503050406030204" charset="0"/>
                    <a:cs typeface="Cambria Math" panose="02040503050406030204" charset="0"/>
                  </a:rPr>
                  <a:t>)</a:t>
                </a:r>
              </a:p>
              <a:p>
                <a:pPr>
                  <a:lnSpc>
                    <a:spcPct val="150000"/>
                  </a:lnSpc>
                </a:pPr>
                <a:r>
                  <a:rPr lang="zh-CN" altLang="en-US" sz="1400" dirty="0">
                    <a:latin typeface="Cambria Math" panose="02040503050406030204" charset="0"/>
                    <a:cs typeface="Cambria Math" panose="02040503050406030204" charset="0"/>
                  </a:rPr>
                  <a:t>名义控制器输出名义控制量，安全滤波器寻找距离最近的安全控制量</a:t>
                </a:r>
              </a:p>
              <a:p>
                <a:endParaRPr lang="en-US" altLang="zh-CN" dirty="0">
                  <a:latin typeface="Cambria Math" panose="02040503050406030204" charset="0"/>
                  <a:cs typeface="Cambria Math" panose="02040503050406030204" charset="0"/>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211639" y="1504950"/>
                <a:ext cx="8835022" cy="2668423"/>
              </a:xfrm>
              <a:prstGeom prst="rect">
                <a:avLst/>
              </a:prstGeom>
              <a:blipFill rotWithShape="1">
                <a:blip r:embed="rId3"/>
                <a:stretch>
                  <a:fillRect l="-2" r="5" b="6"/>
                </a:stretch>
              </a:blipFill>
            </p:spPr>
            <p:txBody>
              <a:bodyPr/>
              <a:lstStyle/>
              <a:p>
                <a:r>
                  <a:rPr lang="zh-CN" altLang="en-US">
                    <a:noFill/>
                  </a:rPr>
                  <a:t> </a:t>
                </a:r>
              </a:p>
            </p:txBody>
          </p:sp>
        </mc:Fallback>
      </mc:AlternateContent>
      <p:graphicFrame>
        <p:nvGraphicFramePr>
          <p:cNvPr id="9" name="对象 8">
            <a:hlinkClick r:id="" action="ppaction://ole?verb=0"/>
          </p:cNvPr>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r:id="rId4" imgW="114300" imgH="215900" progId="Equation.KSEE3">
                  <p:embed/>
                </p:oleObj>
              </mc:Choice>
              <mc:Fallback>
                <p:oleObj r:id="rId4" imgW="114300" imgH="215900" progId="Equation.KSEE3">
                  <p:embed/>
                  <p:pic>
                    <p:nvPicPr>
                      <p:cNvPr id="9" name="对象 8">
                        <a:hlinkClick r:id="" action="ppaction://ole?verb=0"/>
                      </p:cNvPr>
                      <p:cNvPicPr/>
                      <p:nvPr/>
                    </p:nvPicPr>
                    <p:blipFill>
                      <a:blip r:embed="rId5"/>
                      <a:stretch>
                        <a:fillRect/>
                      </a:stretch>
                    </p:blipFill>
                    <p:spPr>
                      <a:xfrm>
                        <a:off x="4514850" y="3321050"/>
                        <a:ext cx="114300" cy="215900"/>
                      </a:xfrm>
                      <a:prstGeom prst="rect">
                        <a:avLst/>
                      </a:prstGeom>
                    </p:spPr>
                  </p:pic>
                </p:oleObj>
              </mc:Fallback>
            </mc:AlternateContent>
          </a:graphicData>
        </a:graphic>
      </p:graphicFrame>
      <p:pic>
        <p:nvPicPr>
          <p:cNvPr id="18" name="图片 1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7507" y="4173370"/>
            <a:ext cx="4956309" cy="1600205"/>
          </a:xfrm>
          <a:prstGeom prst="rect">
            <a:avLst/>
          </a:prstGeom>
        </p:spPr>
      </p:pic>
      <p:graphicFrame>
        <p:nvGraphicFramePr>
          <p:cNvPr id="22" name="对象 21"/>
          <p:cNvGraphicFramePr>
            <a:graphicFrameLocks noChangeAspect="1"/>
          </p:cNvGraphicFramePr>
          <p:nvPr/>
        </p:nvGraphicFramePr>
        <p:xfrm>
          <a:off x="5974379" y="4407187"/>
          <a:ext cx="2034417" cy="464552"/>
        </p:xfrm>
        <a:graphic>
          <a:graphicData uri="http://schemas.openxmlformats.org/presentationml/2006/ole">
            <mc:AlternateContent xmlns:mc="http://schemas.openxmlformats.org/markup-compatibility/2006">
              <mc:Choice xmlns:v="urn:schemas-microsoft-com:vml" Requires="v">
                <p:oleObj name="Equation" r:id="rId7" imgW="38709600" imgH="8839200" progId="Equation.DSMT4">
                  <p:embed/>
                </p:oleObj>
              </mc:Choice>
              <mc:Fallback>
                <p:oleObj name="Equation" r:id="rId7" imgW="38709600" imgH="8839200" progId="Equation.DSMT4">
                  <p:embed/>
                  <p:pic>
                    <p:nvPicPr>
                      <p:cNvPr id="22" name="对象 21"/>
                      <p:cNvPicPr/>
                      <p:nvPr/>
                    </p:nvPicPr>
                    <p:blipFill>
                      <a:blip r:embed="rId8"/>
                      <a:stretch>
                        <a:fillRect/>
                      </a:stretch>
                    </p:blipFill>
                    <p:spPr>
                      <a:xfrm>
                        <a:off x="5974379" y="4407187"/>
                        <a:ext cx="2034417" cy="464552"/>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24" name="文本框 23"/>
              <p:cNvSpPr txBox="1"/>
              <p:nvPr/>
            </p:nvSpPr>
            <p:spPr>
              <a:xfrm>
                <a:off x="4768316" y="5105419"/>
                <a:ext cx="4895766" cy="56053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zh-CN" altLang="en-US" sz="1600" i="0" smtClean="0">
                          <a:latin typeface="Cambria Math" panose="02040503050406030204" charset="0"/>
                        </a:rPr>
                        <m:t>s</m:t>
                      </m:r>
                      <m:r>
                        <m:rPr>
                          <m:nor/>
                        </m:rPr>
                        <a:rPr lang="en-US" altLang="zh-CN" sz="1600" b="0" i="0" smtClean="0">
                          <a:latin typeface="Cambria Math" panose="02040503050406030204" charset="0"/>
                        </a:rPr>
                        <m:t>.</m:t>
                      </m:r>
                      <m:r>
                        <m:rPr>
                          <m:nor/>
                        </m:rPr>
                        <a:rPr lang="en-US" altLang="zh-CN" sz="1600" b="0" i="0" smtClean="0">
                          <a:latin typeface="Cambria Math" panose="02040503050406030204" charset="0"/>
                        </a:rPr>
                        <m:t>t</m:t>
                      </m:r>
                      <m:r>
                        <m:rPr>
                          <m:nor/>
                        </m:rPr>
                        <a:rPr lang="en-US" altLang="zh-CN" sz="1600" b="0" i="0" smtClean="0">
                          <a:latin typeface="Cambria Math" panose="02040503050406030204" charset="0"/>
                        </a:rPr>
                        <m:t>.</m:t>
                      </m:r>
                      <m:r>
                        <m:rPr>
                          <m:nor/>
                        </m:rPr>
                        <a:rPr lang="zh-CN" altLang="en-US" sz="1600" i="0" smtClean="0">
                          <a:latin typeface="Cambria Math" panose="02040503050406030204" charset="0"/>
                        </a:rPr>
                        <m:t> </m:t>
                      </m:r>
                      <m:f>
                        <m:fPr>
                          <m:ctrlPr>
                            <a:rPr lang="zh-CN" altLang="en-US" sz="1600" i="1">
                              <a:latin typeface="Cambria Math" panose="02040503050406030204" pitchFamily="18" charset="0"/>
                            </a:rPr>
                          </m:ctrlPr>
                        </m:fPr>
                        <m:num>
                          <m:r>
                            <a:rPr lang="zh-CN" altLang="en-US" sz="1600" i="1">
                              <a:latin typeface="Cambria Math" panose="02040503050406030204" charset="0"/>
                            </a:rPr>
                            <m:t>𝜕</m:t>
                          </m:r>
                          <m:r>
                            <a:rPr lang="zh-CN" altLang="en-US" sz="1600" i="1">
                              <a:latin typeface="Cambria Math" panose="02040503050406030204" charset="0"/>
                            </a:rPr>
                            <m:t>h</m:t>
                          </m:r>
                        </m:num>
                        <m:den>
                          <m:r>
                            <a:rPr lang="zh-CN" altLang="en-US" sz="1600" i="1">
                              <a:latin typeface="Cambria Math" panose="02040503050406030204" charset="0"/>
                            </a:rPr>
                            <m:t>𝜕</m:t>
                          </m:r>
                          <m:r>
                            <a:rPr lang="zh-CN" altLang="en-US" sz="1600" i="1">
                              <a:latin typeface="Cambria Math" panose="02040503050406030204" charset="0"/>
                            </a:rPr>
                            <m:t>𝑥</m:t>
                          </m:r>
                        </m:den>
                      </m:f>
                      <m:r>
                        <a:rPr lang="zh-CN" altLang="en-US" sz="1600" i="1">
                          <a:latin typeface="Cambria Math" panose="02040503050406030204" charset="0"/>
                        </a:rPr>
                        <m:t>𝑓</m:t>
                      </m:r>
                      <m:d>
                        <m:dPr>
                          <m:ctrlPr>
                            <a:rPr lang="zh-CN" altLang="en-US" sz="1600" i="1">
                              <a:latin typeface="Cambria Math" panose="02040503050406030204" pitchFamily="18" charset="0"/>
                            </a:rPr>
                          </m:ctrlPr>
                        </m:dPr>
                        <m:e>
                          <m:r>
                            <a:rPr lang="zh-CN" altLang="en-US" sz="1600" i="1">
                              <a:latin typeface="Cambria Math" panose="02040503050406030204" charset="0"/>
                            </a:rPr>
                            <m:t>𝑥</m:t>
                          </m:r>
                        </m:e>
                      </m:d>
                      <m:r>
                        <a:rPr lang="zh-CN" altLang="en-US" sz="1600" i="1">
                          <a:latin typeface="Cambria Math" panose="02040503050406030204" charset="0"/>
                        </a:rPr>
                        <m:t>+</m:t>
                      </m:r>
                      <m:f>
                        <m:fPr>
                          <m:ctrlPr>
                            <a:rPr lang="zh-CN" altLang="en-US" sz="1600" i="1">
                              <a:latin typeface="Cambria Math" panose="02040503050406030204" pitchFamily="18" charset="0"/>
                            </a:rPr>
                          </m:ctrlPr>
                        </m:fPr>
                        <m:num>
                          <m:r>
                            <a:rPr lang="zh-CN" altLang="en-US" sz="1600" i="1">
                              <a:latin typeface="Cambria Math" panose="02040503050406030204" charset="0"/>
                            </a:rPr>
                            <m:t>𝜕</m:t>
                          </m:r>
                          <m:r>
                            <a:rPr lang="zh-CN" altLang="en-US" sz="1600" i="1">
                              <a:latin typeface="Cambria Math" panose="02040503050406030204" charset="0"/>
                            </a:rPr>
                            <m:t>h</m:t>
                          </m:r>
                        </m:num>
                        <m:den>
                          <m:r>
                            <a:rPr lang="zh-CN" altLang="en-US" sz="1600" i="1">
                              <a:latin typeface="Cambria Math" panose="02040503050406030204" charset="0"/>
                            </a:rPr>
                            <m:t>𝜕</m:t>
                          </m:r>
                          <m:r>
                            <a:rPr lang="zh-CN" altLang="en-US" sz="1600" i="1">
                              <a:latin typeface="Cambria Math" panose="02040503050406030204" charset="0"/>
                            </a:rPr>
                            <m:t>𝑥</m:t>
                          </m:r>
                        </m:den>
                      </m:f>
                      <m:r>
                        <a:rPr lang="zh-CN" altLang="en-US" sz="1600" i="1">
                          <a:latin typeface="Cambria Math" panose="02040503050406030204" charset="0"/>
                        </a:rPr>
                        <m:t>𝑔</m:t>
                      </m:r>
                      <m:d>
                        <m:dPr>
                          <m:ctrlPr>
                            <a:rPr lang="zh-CN" altLang="en-US" sz="1600" i="1">
                              <a:latin typeface="Cambria Math" panose="02040503050406030204" pitchFamily="18" charset="0"/>
                            </a:rPr>
                          </m:ctrlPr>
                        </m:dPr>
                        <m:e>
                          <m:r>
                            <a:rPr lang="zh-CN" altLang="en-US" sz="1600" i="1">
                              <a:latin typeface="Cambria Math" panose="02040503050406030204" charset="0"/>
                            </a:rPr>
                            <m:t>𝑥</m:t>
                          </m:r>
                        </m:e>
                      </m:d>
                      <m:r>
                        <a:rPr lang="zh-CN" altLang="en-US" sz="1600" i="1">
                          <a:latin typeface="Cambria Math" panose="02040503050406030204" charset="0"/>
                        </a:rPr>
                        <m:t>𝑢</m:t>
                      </m:r>
                      <m:r>
                        <a:rPr lang="zh-CN" altLang="en-US" sz="1600" i="1">
                          <a:latin typeface="Cambria Math" panose="02040503050406030204" charset="0"/>
                        </a:rPr>
                        <m:t>≥−</m:t>
                      </m:r>
                      <m:r>
                        <a:rPr lang="zh-CN" altLang="en-US" sz="1600" i="1">
                          <a:latin typeface="Cambria Math" panose="02040503050406030204" charset="0"/>
                        </a:rPr>
                        <m:t>𝛼</m:t>
                      </m:r>
                      <m:d>
                        <m:dPr>
                          <m:ctrlPr>
                            <a:rPr lang="zh-CN" altLang="en-US" sz="1600" i="1">
                              <a:latin typeface="Cambria Math" panose="02040503050406030204" pitchFamily="18" charset="0"/>
                            </a:rPr>
                          </m:ctrlPr>
                        </m:dPr>
                        <m:e>
                          <m:r>
                            <a:rPr lang="zh-CN" altLang="en-US" sz="1600" i="1">
                              <a:latin typeface="Cambria Math" panose="02040503050406030204" charset="0"/>
                            </a:rPr>
                            <m:t>h</m:t>
                          </m:r>
                          <m:d>
                            <m:dPr>
                              <m:ctrlPr>
                                <a:rPr lang="zh-CN" altLang="en-US" sz="1600" i="1">
                                  <a:latin typeface="Cambria Math" panose="02040503050406030204" pitchFamily="18" charset="0"/>
                                </a:rPr>
                              </m:ctrlPr>
                            </m:dPr>
                            <m:e>
                              <m:r>
                                <a:rPr lang="zh-CN" altLang="en-US" sz="1600" i="1">
                                  <a:latin typeface="Cambria Math" panose="02040503050406030204" charset="0"/>
                                </a:rPr>
                                <m:t>𝑥</m:t>
                              </m:r>
                            </m:e>
                          </m:d>
                        </m:e>
                      </m:d>
                      <m:r>
                        <a:rPr lang="zh-CN" altLang="en-US" sz="1600" i="1">
                          <a:latin typeface="Cambria Math" panose="02040503050406030204" charset="0"/>
                        </a:rPr>
                        <m:t>.</m:t>
                      </m:r>
                    </m:oMath>
                  </m:oMathPara>
                </a14:m>
                <a:endParaRPr lang="zh-CN" altLang="en-US" sz="1600" dirty="0"/>
              </a:p>
            </p:txBody>
          </p:sp>
        </mc:Choice>
        <mc:Fallback xmlns="">
          <p:sp>
            <p:nvSpPr>
              <p:cNvPr id="24" name="文本框 23"/>
              <p:cNvSpPr txBox="1">
                <a:spLocks noRot="1" noChangeAspect="1" noMove="1" noResize="1" noEditPoints="1" noAdjustHandles="1" noChangeArrowheads="1" noChangeShapeType="1" noTextEdit="1"/>
              </p:cNvSpPr>
              <p:nvPr/>
            </p:nvSpPr>
            <p:spPr>
              <a:xfrm>
                <a:off x="4768316" y="5105419"/>
                <a:ext cx="4895766" cy="560538"/>
              </a:xfrm>
              <a:prstGeom prst="rect">
                <a:avLst/>
              </a:prstGeom>
              <a:blipFill rotWithShape="1">
                <a:blip r:embed="rId9"/>
                <a:stretch>
                  <a:fillRect l="-2" t="-3" b="87"/>
                </a:stretch>
              </a:blipFill>
            </p:spPr>
            <p:txBody>
              <a:bodyPr/>
              <a:lstStyle/>
              <a:p>
                <a:r>
                  <a:rPr lang="zh-CN" altLang="en-US">
                    <a:noFill/>
                  </a:rPr>
                  <a:t> </a:t>
                </a:r>
              </a:p>
            </p:txBody>
          </p:sp>
        </mc:Fallback>
      </mc:AlternateContent>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9144000" cy="508159"/>
          </a:xfrm>
          <a:prstGeom prst="rect">
            <a:avLst/>
          </a:prstGeom>
          <a:solidFill>
            <a:schemeClr val="accent1">
              <a:lumMod val="75000"/>
            </a:schemeClr>
          </a:solidFill>
          <a:ln>
            <a:noFill/>
          </a:ln>
          <a:effectLst>
            <a:softEdge rad="127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6" name="文本框 5"/>
          <p:cNvSpPr txBox="1"/>
          <p:nvPr/>
        </p:nvSpPr>
        <p:spPr>
          <a:xfrm>
            <a:off x="139065" y="46990"/>
            <a:ext cx="3871595" cy="414020"/>
          </a:xfrm>
          <a:prstGeom prst="rect">
            <a:avLst/>
          </a:prstGeom>
          <a:noFill/>
        </p:spPr>
        <p:txBody>
          <a:bodyPr wrap="square" rtlCol="0">
            <a:spAutoFit/>
          </a:bodyPr>
          <a:lstStyle/>
          <a:p>
            <a:r>
              <a:rPr lang="zh-CN" altLang="en-US" sz="2100" b="1">
                <a:solidFill>
                  <a:schemeClr val="bg1"/>
                </a:solidFill>
                <a:sym typeface="+mn-ea"/>
              </a:rPr>
              <a:t>方案构思</a:t>
            </a:r>
            <a:r>
              <a:rPr lang="en-US" altLang="zh-CN" sz="2100" b="1">
                <a:solidFill>
                  <a:schemeClr val="bg1"/>
                </a:solidFill>
              </a:rPr>
              <a:t>-</a:t>
            </a:r>
            <a:r>
              <a:rPr lang="zh-CN" altLang="en-US" b="1">
                <a:solidFill>
                  <a:schemeClr val="bg1"/>
                </a:solidFill>
              </a:rPr>
              <a:t>机械臂焊前轨迹规划</a:t>
            </a:r>
          </a:p>
        </p:txBody>
      </p:sp>
      <p:sp>
        <p:nvSpPr>
          <p:cNvPr id="4" name="文本框 3"/>
          <p:cNvSpPr txBox="1"/>
          <p:nvPr/>
        </p:nvSpPr>
        <p:spPr>
          <a:xfrm>
            <a:off x="78740" y="550545"/>
            <a:ext cx="5038725" cy="398780"/>
          </a:xfrm>
          <a:prstGeom prst="rect">
            <a:avLst/>
          </a:prstGeom>
          <a:noFill/>
        </p:spPr>
        <p:txBody>
          <a:bodyPr wrap="square" rtlCol="0">
            <a:spAutoFit/>
          </a:bodyPr>
          <a:lstStyle/>
          <a:p>
            <a:pPr marL="285750" indent="-285750">
              <a:buFont typeface="Wingdings" panose="05000000000000000000" charset="0"/>
              <a:buChar char="Ø"/>
            </a:pPr>
            <a:r>
              <a:rPr lang="zh-CN" altLang="en-US" sz="2000" b="1"/>
              <a:t>基于</a:t>
            </a:r>
            <a:r>
              <a:rPr lang="en-US" altLang="zh-CN" sz="2000" b="1"/>
              <a:t>CBF-QP</a:t>
            </a:r>
            <a:r>
              <a:rPr lang="zh-CN" altLang="en-US" sz="2000" b="1"/>
              <a:t>的</a:t>
            </a:r>
            <a:r>
              <a:rPr lang="en-US" altLang="zh-CN" sz="2000" b="1"/>
              <a:t>Safety Critical </a:t>
            </a:r>
            <a:r>
              <a:rPr lang="zh-CN" altLang="en-US" sz="2000" b="1"/>
              <a:t>算法</a:t>
            </a:r>
          </a:p>
        </p:txBody>
      </p:sp>
      <p:sp>
        <p:nvSpPr>
          <p:cNvPr id="7" name="矩形 6"/>
          <p:cNvSpPr/>
          <p:nvPr/>
        </p:nvSpPr>
        <p:spPr>
          <a:xfrm>
            <a:off x="212725" y="991870"/>
            <a:ext cx="8620760" cy="513080"/>
          </a:xfrm>
          <a:prstGeom prst="rect">
            <a:avLst/>
          </a:prstGeom>
          <a:solidFill>
            <a:schemeClr val="bg2">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a:t>本质上</a:t>
            </a:r>
            <a:r>
              <a:rPr lang="en-US" altLang="zh-CN" sz="1600"/>
              <a:t>CBF-QP</a:t>
            </a:r>
            <a:r>
              <a:rPr lang="zh-CN" altLang="en-US" sz="1600"/>
              <a:t>属于一种</a:t>
            </a:r>
            <a:r>
              <a:rPr lang="zh-CN" altLang="en-US" sz="1600" b="1"/>
              <a:t>安全滤波器</a:t>
            </a:r>
            <a:r>
              <a:rPr lang="zh-CN" altLang="en-US" sz="1600"/>
              <a:t>，输入可能导致干涉的控制信号，输出安全控制信号</a:t>
            </a:r>
          </a:p>
        </p:txBody>
      </p:sp>
      <p:pic>
        <p:nvPicPr>
          <p:cNvPr id="12" name="cbf_demo">
            <a:hlinkClick r:id="" action="ppaction://media"/>
          </p:cNvPr>
          <p:cNvPicPr/>
          <p:nvPr>
            <a:videoFile r:link="rId3"/>
            <p:extLst>
              <p:ext uri="{DAA4B4D4-6D71-4841-9C94-3DE7FCFB9230}">
                <p14:media xmlns:p14="http://schemas.microsoft.com/office/powerpoint/2010/main" r:embed="rId2"/>
              </p:ext>
            </p:extLst>
          </p:nvPr>
        </p:nvPicPr>
        <p:blipFill>
          <a:blip r:embed="rId5"/>
          <a:stretch>
            <a:fillRect/>
          </a:stretch>
        </p:blipFill>
        <p:spPr>
          <a:xfrm>
            <a:off x="139065" y="2241395"/>
            <a:ext cx="5168915" cy="3791415"/>
          </a:xfrm>
          <a:prstGeom prst="rect">
            <a:avLst/>
          </a:prstGeom>
        </p:spPr>
      </p:pic>
    </p:spTree>
    <p:custDataLst>
      <p:tags r:id="rId1"/>
    </p:custDataLst>
  </p:cSld>
  <p:clrMapOvr>
    <a:masterClrMapping/>
  </p:clrMapOvr>
  <p:timing>
    <p:tnLst>
      <p:par>
        <p:cTn id="1" dur="indefinite" restart="never" nodeType="tmRoot">
          <p:childTnLst>
            <p:video>
              <p:cMediaNode>
                <p:cTn id="2" fill="hold" display="1">
                  <p:stCondLst>
                    <p:cond delay="indefinite"/>
                  </p:stCondLst>
                </p:cTn>
                <p:tgtEl>
                  <p:spTgt spid="12"/>
                </p:tgtEl>
              </p:cMediaNode>
            </p:video>
            <p:seq concurrent="1" nextAc="seek">
              <p:cTn id="3" restart="whenNotActive" fill="hold" evtFilter="cancelBubble" nodeType="interactiveSeq">
                <p:stCondLst>
                  <p:cond evt="onClick" delay="0">
                    <p:tgtEl>
                      <p:spTgt spid="12"/>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12"/>
                                        </p:tgtEl>
                                      </p:cBhvr>
                                    </p:cmd>
                                  </p:childTnLst>
                                </p:cTn>
                              </p:par>
                            </p:childTnLst>
                          </p:cTn>
                        </p:par>
                      </p:childTnLst>
                    </p:cTn>
                  </p:par>
                </p:childTnLst>
              </p:cTn>
              <p:nextCondLst>
                <p:cond evt="onClick" delay="0">
                  <p:tgtEl>
                    <p:spTgt spid="12"/>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9144000" cy="508159"/>
          </a:xfrm>
          <a:prstGeom prst="rect">
            <a:avLst/>
          </a:prstGeom>
          <a:solidFill>
            <a:schemeClr val="accent1">
              <a:lumMod val="75000"/>
            </a:schemeClr>
          </a:solidFill>
          <a:ln>
            <a:noFill/>
          </a:ln>
          <a:effectLst>
            <a:softEdge rad="127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6" name="文本框 5"/>
          <p:cNvSpPr txBox="1"/>
          <p:nvPr/>
        </p:nvSpPr>
        <p:spPr>
          <a:xfrm>
            <a:off x="139065" y="46990"/>
            <a:ext cx="3871595" cy="414020"/>
          </a:xfrm>
          <a:prstGeom prst="rect">
            <a:avLst/>
          </a:prstGeom>
          <a:noFill/>
        </p:spPr>
        <p:txBody>
          <a:bodyPr wrap="square" rtlCol="0">
            <a:spAutoFit/>
          </a:bodyPr>
          <a:lstStyle/>
          <a:p>
            <a:r>
              <a:rPr lang="zh-CN" altLang="en-US" sz="2100" b="1">
                <a:solidFill>
                  <a:schemeClr val="bg1"/>
                </a:solidFill>
                <a:sym typeface="+mn-ea"/>
              </a:rPr>
              <a:t>方案构思</a:t>
            </a:r>
            <a:r>
              <a:rPr lang="en-US" altLang="zh-CN" sz="2100" b="1">
                <a:solidFill>
                  <a:schemeClr val="bg1"/>
                </a:solidFill>
              </a:rPr>
              <a:t>-</a:t>
            </a:r>
            <a:r>
              <a:rPr lang="zh-CN" altLang="en-US" b="1">
                <a:solidFill>
                  <a:schemeClr val="bg1"/>
                </a:solidFill>
              </a:rPr>
              <a:t>机械臂焊前轨迹规划</a:t>
            </a:r>
          </a:p>
        </p:txBody>
      </p:sp>
      <p:sp>
        <p:nvSpPr>
          <p:cNvPr id="4" name="文本框 3"/>
          <p:cNvSpPr txBox="1"/>
          <p:nvPr/>
        </p:nvSpPr>
        <p:spPr>
          <a:xfrm>
            <a:off x="78740" y="550545"/>
            <a:ext cx="7597407" cy="707886"/>
          </a:xfrm>
          <a:prstGeom prst="rect">
            <a:avLst/>
          </a:prstGeom>
          <a:noFill/>
        </p:spPr>
        <p:txBody>
          <a:bodyPr wrap="square" rtlCol="0">
            <a:spAutoFit/>
          </a:bodyPr>
          <a:lstStyle/>
          <a:p>
            <a:pPr marL="285750" indent="-285750">
              <a:buFont typeface="Wingdings" panose="05000000000000000000" charset="0"/>
              <a:buChar char="Ø"/>
            </a:pPr>
            <a:r>
              <a:rPr lang="zh-CN" altLang="en-US" sz="2000" b="1" dirty="0"/>
              <a:t>基于</a:t>
            </a:r>
            <a:r>
              <a:rPr lang="en-US" altLang="zh-CN" sz="2000" b="1" dirty="0"/>
              <a:t>CBF-QP</a:t>
            </a:r>
            <a:r>
              <a:rPr lang="zh-CN" altLang="en-US" sz="2000" b="1" dirty="0"/>
              <a:t>的</a:t>
            </a:r>
            <a:r>
              <a:rPr lang="en-US" altLang="zh-CN" sz="2000" b="1" dirty="0"/>
              <a:t>Safety Critical </a:t>
            </a:r>
            <a:r>
              <a:rPr lang="zh-CN" altLang="en-US" sz="2000" b="1" dirty="0"/>
              <a:t>算法 </a:t>
            </a:r>
            <a:r>
              <a:rPr lang="en-US" altLang="zh-CN" sz="2000" b="1" dirty="0"/>
              <a:t>- </a:t>
            </a:r>
            <a:r>
              <a:rPr lang="zh-CN" altLang="en-US" sz="1600" b="1" dirty="0">
                <a:latin typeface="CircularXXWeb"/>
              </a:rPr>
              <a:t>在线</a:t>
            </a:r>
            <a:r>
              <a:rPr lang="en-US" altLang="zh-CN" sz="1600" b="1" dirty="0">
                <a:latin typeface="CircularXXWeb"/>
              </a:rPr>
              <a:t>/</a:t>
            </a:r>
            <a:r>
              <a:rPr lang="zh-CN" altLang="en-US" sz="1600" b="1" dirty="0">
                <a:latin typeface="CircularXXWeb"/>
              </a:rPr>
              <a:t>数据驱动 </a:t>
            </a:r>
            <a:r>
              <a:rPr lang="en-US" altLang="zh-CN" sz="1600" b="1" dirty="0">
                <a:latin typeface="CircularXXWeb"/>
              </a:rPr>
              <a:t>CBF </a:t>
            </a:r>
            <a:r>
              <a:rPr lang="zh-CN" altLang="en-US" sz="1600" b="1" dirty="0">
                <a:latin typeface="CircularXXWeb"/>
              </a:rPr>
              <a:t>构造</a:t>
            </a:r>
          </a:p>
          <a:p>
            <a:pPr marL="285750" indent="-285750">
              <a:buFont typeface="Wingdings" panose="05000000000000000000" charset="0"/>
              <a:buChar char="Ø"/>
            </a:pPr>
            <a:endParaRPr lang="zh-CN" altLang="en-US" sz="2000" b="1" dirty="0"/>
          </a:p>
        </p:txBody>
      </p:sp>
      <p:sp>
        <p:nvSpPr>
          <p:cNvPr id="3" name="文本框 2"/>
          <p:cNvSpPr txBox="1"/>
          <p:nvPr/>
        </p:nvSpPr>
        <p:spPr>
          <a:xfrm>
            <a:off x="208345" y="1058376"/>
            <a:ext cx="8501604" cy="400110"/>
          </a:xfrm>
          <a:prstGeom prst="rect">
            <a:avLst/>
          </a:prstGeom>
          <a:noFill/>
        </p:spPr>
        <p:txBody>
          <a:bodyPr wrap="square">
            <a:spAutoFit/>
          </a:bodyPr>
          <a:lstStyle/>
          <a:p>
            <a:pPr marL="171450" indent="-171450">
              <a:buFont typeface="Arial" panose="020B0604020202020204" pitchFamily="34" charset="0"/>
              <a:buChar char="•"/>
            </a:pPr>
            <a:r>
              <a:rPr lang="en-US" altLang="zh-CN" sz="1000" dirty="0">
                <a:effectLst/>
              </a:rPr>
              <a:t>Ding X, Wang H, Ren Y, et al. Online Control Barrier Function Construction for Safety-Critical Motion Control of Manipulators[J]. IEEE Transactions on Systems, Man, and Cybernetics: Systems, 2024, 54(8): 4761-4771.</a:t>
            </a:r>
          </a:p>
        </p:txBody>
      </p:sp>
      <p:sp>
        <p:nvSpPr>
          <p:cNvPr id="7" name="文本框 6"/>
          <p:cNvSpPr txBox="1"/>
          <p:nvPr/>
        </p:nvSpPr>
        <p:spPr>
          <a:xfrm>
            <a:off x="434051" y="1399103"/>
            <a:ext cx="7597408" cy="1166153"/>
          </a:xfrm>
          <a:prstGeom prst="rect">
            <a:avLst/>
          </a:prstGeom>
          <a:noFill/>
        </p:spPr>
        <p:txBody>
          <a:bodyPr wrap="square" rtlCol="0">
            <a:spAutoFit/>
          </a:bodyPr>
          <a:lstStyle/>
          <a:p>
            <a:pPr>
              <a:lnSpc>
                <a:spcPct val="150000"/>
              </a:lnSpc>
            </a:pPr>
            <a:r>
              <a:rPr lang="zh-CN" altLang="en-US" sz="1200" b="1" dirty="0"/>
              <a:t>问题：</a:t>
            </a:r>
            <a:r>
              <a:rPr lang="zh-CN" altLang="en-US" sz="1200" dirty="0"/>
              <a:t>复杂障碍一般使用</a:t>
            </a:r>
            <a:r>
              <a:rPr lang="en-US" altLang="zh-CN" sz="1200" dirty="0"/>
              <a:t>SDF</a:t>
            </a:r>
            <a:r>
              <a:rPr lang="zh-CN" altLang="en-US" sz="1200" dirty="0"/>
              <a:t>函数建模，但是</a:t>
            </a:r>
            <a:r>
              <a:rPr lang="en-US" altLang="zh-CN" sz="1200" dirty="0"/>
              <a:t>SDF</a:t>
            </a:r>
            <a:r>
              <a:rPr lang="zh-CN" altLang="en-US" sz="1200" dirty="0"/>
              <a:t>不可微，一般可以线性化</a:t>
            </a:r>
            <a:r>
              <a:rPr lang="en-US" altLang="zh-CN" sz="1200" dirty="0"/>
              <a:t>SDF</a:t>
            </a:r>
            <a:r>
              <a:rPr lang="zh-CN" altLang="en-US" sz="1200" dirty="0"/>
              <a:t>使之可微，但是</a:t>
            </a:r>
            <a:r>
              <a:rPr lang="en-US" altLang="zh-CN" sz="1200" dirty="0"/>
              <a:t>SDF</a:t>
            </a:r>
            <a:r>
              <a:rPr lang="zh-CN" altLang="en-US" sz="1200" dirty="0"/>
              <a:t>的上水平集会因此大为缩小，无法应对含窄缝的场景</a:t>
            </a:r>
            <a:endParaRPr lang="en-US" altLang="zh-CN" sz="1200" dirty="0"/>
          </a:p>
          <a:p>
            <a:pPr>
              <a:lnSpc>
                <a:spcPct val="150000"/>
              </a:lnSpc>
            </a:pPr>
            <a:r>
              <a:rPr lang="zh-CN" altLang="en-US" sz="1200" b="1" dirty="0"/>
              <a:t>方法：</a:t>
            </a:r>
            <a:r>
              <a:rPr lang="zh-CN" altLang="en-US" sz="1200" dirty="0"/>
              <a:t>文章使用了另外一种改造</a:t>
            </a:r>
            <a:r>
              <a:rPr lang="en-US" altLang="zh-CN" sz="1200" dirty="0"/>
              <a:t>SDF</a:t>
            </a:r>
            <a:r>
              <a:rPr lang="zh-CN" altLang="en-US" sz="1200" dirty="0"/>
              <a:t>的方式，通过构造</a:t>
            </a:r>
            <a:r>
              <a:rPr lang="en-US" altLang="zh-CN" sz="1200" dirty="0"/>
              <a:t>SDF</a:t>
            </a:r>
            <a:r>
              <a:rPr lang="zh-CN" altLang="en-US" sz="1200" dirty="0"/>
              <a:t>上水平集的最大可微内接椭球面，以该椭球面包围的空间作为</a:t>
            </a:r>
            <a:r>
              <a:rPr lang="en-US" altLang="zh-CN" sz="1200" dirty="0"/>
              <a:t>SDF</a:t>
            </a:r>
            <a:r>
              <a:rPr lang="zh-CN" altLang="en-US" sz="1200" dirty="0"/>
              <a:t>上水平集的最佳近似</a:t>
            </a:r>
          </a:p>
        </p:txBody>
      </p:sp>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4051" y="2635910"/>
            <a:ext cx="2412876" cy="1586180"/>
          </a:xfrm>
          <a:prstGeom prst="rect">
            <a:avLst/>
          </a:prstGeom>
        </p:spPr>
      </p:pic>
      <p:sp>
        <p:nvSpPr>
          <p:cNvPr id="11" name="文本框 10"/>
          <p:cNvSpPr txBox="1"/>
          <p:nvPr/>
        </p:nvSpPr>
        <p:spPr>
          <a:xfrm>
            <a:off x="434050" y="4292744"/>
            <a:ext cx="7597407" cy="246221"/>
          </a:xfrm>
          <a:prstGeom prst="rect">
            <a:avLst/>
          </a:prstGeom>
          <a:noFill/>
        </p:spPr>
        <p:txBody>
          <a:bodyPr wrap="square">
            <a:spAutoFit/>
          </a:bodyPr>
          <a:lstStyle/>
          <a:p>
            <a:pPr marL="171450" indent="-171450">
              <a:buFont typeface="Arial" panose="020B0604020202020204" pitchFamily="34" charset="0"/>
              <a:buChar char="•"/>
            </a:pPr>
            <a:r>
              <a:rPr lang="en-US" altLang="zh-CN" sz="1000" dirty="0"/>
              <a:t>Liu S, Huang Z, </a:t>
            </a:r>
            <a:r>
              <a:rPr lang="en-US" altLang="zh-CN" sz="1000" dirty="0" err="1"/>
              <a:t>Belta</a:t>
            </a:r>
            <a:r>
              <a:rPr lang="en-US" altLang="zh-CN" sz="1000" dirty="0"/>
              <a:t> C A. Learning Safety for Obstacle Avoidance via Control Barrier Functions[A]. </a:t>
            </a:r>
            <a:r>
              <a:rPr lang="en-US" altLang="zh-CN" sz="1000" dirty="0" err="1"/>
              <a:t>arXiv</a:t>
            </a:r>
            <a:r>
              <a:rPr lang="en-US" altLang="zh-CN" sz="1000" dirty="0"/>
              <a:t>, 2025.</a:t>
            </a:r>
          </a:p>
        </p:txBody>
      </p:sp>
      <p:sp>
        <p:nvSpPr>
          <p:cNvPr id="12" name="文本框 11"/>
          <p:cNvSpPr txBox="1"/>
          <p:nvPr/>
        </p:nvSpPr>
        <p:spPr>
          <a:xfrm>
            <a:off x="434049" y="4538965"/>
            <a:ext cx="7597408" cy="1167371"/>
          </a:xfrm>
          <a:prstGeom prst="rect">
            <a:avLst/>
          </a:prstGeom>
          <a:noFill/>
        </p:spPr>
        <p:txBody>
          <a:bodyPr wrap="square" rtlCol="0">
            <a:spAutoFit/>
          </a:bodyPr>
          <a:lstStyle/>
          <a:p>
            <a:pPr>
              <a:lnSpc>
                <a:spcPct val="150000"/>
              </a:lnSpc>
            </a:pPr>
            <a:r>
              <a:rPr lang="zh-CN" altLang="en-US" sz="1200" b="1" dirty="0"/>
              <a:t>问题：</a:t>
            </a:r>
            <a:r>
              <a:rPr lang="en-US" altLang="zh-CN" sz="1200" dirty="0"/>
              <a:t>CBF-QP</a:t>
            </a:r>
            <a:r>
              <a:rPr lang="zh-CN" altLang="en-US" sz="1200" dirty="0"/>
              <a:t>算法只能保证离散状态下的无干涉，不能保证状态转移过程中无干涉</a:t>
            </a:r>
            <a:endParaRPr lang="en-US" altLang="zh-CN" sz="1200" dirty="0"/>
          </a:p>
          <a:p>
            <a:pPr>
              <a:lnSpc>
                <a:spcPct val="150000"/>
              </a:lnSpc>
            </a:pPr>
            <a:r>
              <a:rPr lang="zh-CN" altLang="en-US" sz="1200" b="1" dirty="0"/>
              <a:t>方法：</a:t>
            </a:r>
            <a:r>
              <a:rPr lang="zh-CN" altLang="en-US" sz="1200" dirty="0"/>
              <a:t>提出了“局部安全球”（</a:t>
            </a:r>
            <a:r>
              <a:rPr lang="en-US" altLang="zh-CN" sz="1200" dirty="0"/>
              <a:t>Local Safety Ball, LSB</a:t>
            </a:r>
            <a:r>
              <a:rPr lang="zh-CN" altLang="en-US" sz="1200" dirty="0"/>
              <a:t>）的概念。利用神经网络预测出的间距作为半径，并通过“极值点锚定”（</a:t>
            </a:r>
            <a:r>
              <a:rPr lang="en-US" altLang="zh-CN" sz="1200" dirty="0"/>
              <a:t>Extreme Point Anchor, EPA</a:t>
            </a:r>
            <a:r>
              <a:rPr lang="zh-CN" altLang="en-US" sz="1200" dirty="0"/>
              <a:t>）技术，将这个安全球锚定在机械臂边界上距离参考点最远的点上 。这种巧妙的几何约束能够确保机械臂在两次离散时间步之间的整个刚体运动过程都是绝对无碰撞的</a:t>
            </a: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9144000" cy="508159"/>
          </a:xfrm>
          <a:prstGeom prst="rect">
            <a:avLst/>
          </a:prstGeom>
          <a:solidFill>
            <a:schemeClr val="accent1">
              <a:lumMod val="75000"/>
            </a:schemeClr>
          </a:solidFill>
          <a:ln>
            <a:noFill/>
          </a:ln>
          <a:effectLst>
            <a:softEdge rad="127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6" name="文本框 5"/>
          <p:cNvSpPr txBox="1"/>
          <p:nvPr/>
        </p:nvSpPr>
        <p:spPr>
          <a:xfrm>
            <a:off x="139065" y="46990"/>
            <a:ext cx="3871595" cy="414020"/>
          </a:xfrm>
          <a:prstGeom prst="rect">
            <a:avLst/>
          </a:prstGeom>
          <a:noFill/>
        </p:spPr>
        <p:txBody>
          <a:bodyPr wrap="square" rtlCol="0">
            <a:spAutoFit/>
          </a:bodyPr>
          <a:lstStyle/>
          <a:p>
            <a:r>
              <a:rPr lang="zh-CN" altLang="en-US" sz="2100" b="1">
                <a:solidFill>
                  <a:schemeClr val="bg1"/>
                </a:solidFill>
                <a:sym typeface="+mn-ea"/>
              </a:rPr>
              <a:t>方案构思</a:t>
            </a:r>
            <a:r>
              <a:rPr lang="en-US" altLang="zh-CN" sz="2100" b="1">
                <a:solidFill>
                  <a:schemeClr val="bg1"/>
                </a:solidFill>
              </a:rPr>
              <a:t>-</a:t>
            </a:r>
            <a:r>
              <a:rPr lang="zh-CN" altLang="en-US" b="1">
                <a:solidFill>
                  <a:schemeClr val="bg1"/>
                </a:solidFill>
              </a:rPr>
              <a:t>机械臂焊前轨迹规划</a:t>
            </a:r>
          </a:p>
        </p:txBody>
      </p:sp>
      <p:sp>
        <p:nvSpPr>
          <p:cNvPr id="4" name="文本框 3"/>
          <p:cNvSpPr txBox="1"/>
          <p:nvPr/>
        </p:nvSpPr>
        <p:spPr>
          <a:xfrm>
            <a:off x="78740" y="550545"/>
            <a:ext cx="7597407" cy="707886"/>
          </a:xfrm>
          <a:prstGeom prst="rect">
            <a:avLst/>
          </a:prstGeom>
          <a:noFill/>
        </p:spPr>
        <p:txBody>
          <a:bodyPr wrap="square" rtlCol="0">
            <a:spAutoFit/>
          </a:bodyPr>
          <a:lstStyle/>
          <a:p>
            <a:pPr marL="285750" indent="-285750">
              <a:buFont typeface="Wingdings" panose="05000000000000000000" charset="0"/>
              <a:buChar char="Ø"/>
            </a:pPr>
            <a:r>
              <a:rPr lang="zh-CN" altLang="en-US" sz="2000" b="1" dirty="0"/>
              <a:t>基于</a:t>
            </a:r>
            <a:r>
              <a:rPr lang="en-US" altLang="zh-CN" sz="2000" b="1" dirty="0"/>
              <a:t>CBF-QP</a:t>
            </a:r>
            <a:r>
              <a:rPr lang="zh-CN" altLang="en-US" sz="2000" b="1" dirty="0"/>
              <a:t>的</a:t>
            </a:r>
            <a:r>
              <a:rPr lang="en-US" altLang="zh-CN" sz="2000" b="1" dirty="0"/>
              <a:t>Safety Critical </a:t>
            </a:r>
            <a:r>
              <a:rPr lang="zh-CN" altLang="en-US" sz="2000" b="1" dirty="0"/>
              <a:t>算法 </a:t>
            </a:r>
            <a:r>
              <a:rPr lang="en-US" altLang="zh-CN" sz="2000" b="1" dirty="0"/>
              <a:t>– </a:t>
            </a:r>
            <a:r>
              <a:rPr lang="zh-CN" altLang="en-US" sz="1600" b="1" dirty="0">
                <a:latin typeface="CircularXXWeb"/>
              </a:rPr>
              <a:t>融合</a:t>
            </a:r>
            <a:r>
              <a:rPr lang="en-US" altLang="zh-CN" sz="1600" b="1" dirty="0">
                <a:latin typeface="CircularXXWeb"/>
              </a:rPr>
              <a:t>MPC</a:t>
            </a:r>
            <a:endParaRPr lang="zh-CN" altLang="en-US" sz="1600" b="1" dirty="0">
              <a:latin typeface="CircularXXWeb"/>
            </a:endParaRPr>
          </a:p>
          <a:p>
            <a:pPr marL="285750" indent="-285750">
              <a:buFont typeface="Wingdings" panose="05000000000000000000" charset="0"/>
              <a:buChar char="Ø"/>
            </a:pPr>
            <a:endParaRPr lang="zh-CN" altLang="en-US" sz="2000" b="1" dirty="0"/>
          </a:p>
        </p:txBody>
      </p:sp>
      <p:pic>
        <p:nvPicPr>
          <p:cNvPr id="2" name="cbf_demo">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7"/>
          <a:stretch>
            <a:fillRect/>
          </a:stretch>
        </p:blipFill>
        <p:spPr>
          <a:xfrm>
            <a:off x="78437" y="2374089"/>
            <a:ext cx="4391304" cy="2415217"/>
          </a:xfrm>
          <a:prstGeom prst="rect">
            <a:avLst/>
          </a:prstGeom>
        </p:spPr>
      </p:pic>
      <p:pic>
        <p:nvPicPr>
          <p:cNvPr id="8" name="cbf_demo">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8"/>
          <a:stretch>
            <a:fillRect/>
          </a:stretch>
        </p:blipFill>
        <p:spPr>
          <a:xfrm>
            <a:off x="4212590" y="2374089"/>
            <a:ext cx="4391304" cy="2415217"/>
          </a:xfrm>
          <a:prstGeom prst="rect">
            <a:avLst/>
          </a:prstGeom>
        </p:spPr>
      </p:pic>
      <p:sp>
        <p:nvSpPr>
          <p:cNvPr id="13" name="文本框 12"/>
          <p:cNvSpPr txBox="1"/>
          <p:nvPr/>
        </p:nvSpPr>
        <p:spPr>
          <a:xfrm>
            <a:off x="259142" y="1054596"/>
            <a:ext cx="8704162" cy="246221"/>
          </a:xfrm>
          <a:prstGeom prst="rect">
            <a:avLst/>
          </a:prstGeom>
          <a:noFill/>
        </p:spPr>
        <p:txBody>
          <a:bodyPr wrap="square">
            <a:spAutoFit/>
          </a:bodyPr>
          <a:lstStyle/>
          <a:p>
            <a:pPr marL="171450" indent="-171450">
              <a:buFont typeface="Arial" panose="020B0604020202020204" pitchFamily="34" charset="0"/>
              <a:buChar char="•"/>
            </a:pPr>
            <a:r>
              <a:rPr lang="en-US" altLang="zh-CN" sz="1000" dirty="0"/>
              <a:t>Liu J, Yang J, Mao J, et al. Flexible Active Safety Motion Control for Robotic Obstacle Avoidance: A CBF-Guided MPC Approach[A]. </a:t>
            </a:r>
            <a:r>
              <a:rPr lang="en-US" altLang="zh-CN" sz="1000" dirty="0" err="1"/>
              <a:t>arXiv</a:t>
            </a:r>
            <a:r>
              <a:rPr lang="en-US" altLang="zh-CN" sz="1000" dirty="0"/>
              <a:t>, 2024.</a:t>
            </a:r>
          </a:p>
        </p:txBody>
      </p:sp>
      <p:sp>
        <p:nvSpPr>
          <p:cNvPr id="14" name="文本框 13"/>
          <p:cNvSpPr txBox="1"/>
          <p:nvPr/>
        </p:nvSpPr>
        <p:spPr>
          <a:xfrm>
            <a:off x="434051" y="1270545"/>
            <a:ext cx="8119640" cy="1166153"/>
          </a:xfrm>
          <a:prstGeom prst="rect">
            <a:avLst/>
          </a:prstGeom>
          <a:noFill/>
        </p:spPr>
        <p:txBody>
          <a:bodyPr wrap="square" rtlCol="0">
            <a:spAutoFit/>
          </a:bodyPr>
          <a:lstStyle/>
          <a:p>
            <a:pPr>
              <a:lnSpc>
                <a:spcPct val="150000"/>
              </a:lnSpc>
            </a:pPr>
            <a:r>
              <a:rPr lang="zh-CN" altLang="en-US" sz="1200" b="1" dirty="0"/>
              <a:t>问题：</a:t>
            </a:r>
            <a:r>
              <a:rPr lang="zh-CN" altLang="en-US" sz="1200" dirty="0"/>
              <a:t>传统</a:t>
            </a:r>
            <a:r>
              <a:rPr lang="en-US" altLang="zh-CN" sz="1200" dirty="0"/>
              <a:t>CBF-QP</a:t>
            </a:r>
            <a:r>
              <a:rPr lang="zh-CN" altLang="en-US" sz="1200" dirty="0"/>
              <a:t>方法属于</a:t>
            </a:r>
            <a:r>
              <a:rPr lang="zh-CN" altLang="en-US" sz="1200" b="1" dirty="0"/>
              <a:t>单步预测</a:t>
            </a:r>
            <a:r>
              <a:rPr lang="zh-CN" altLang="en-US" sz="1200" dirty="0"/>
              <a:t>，反应</a:t>
            </a:r>
            <a:r>
              <a:rPr lang="zh-CN" altLang="en-US" sz="1200" b="1" dirty="0"/>
              <a:t>速度快但是短视</a:t>
            </a:r>
            <a:r>
              <a:rPr lang="zh-CN" altLang="en-US" sz="1200" dirty="0"/>
              <a:t>，面对高速移动的障碍物容易产生剧烈的防撞动作损害设备；在多障碍物</a:t>
            </a:r>
            <a:r>
              <a:rPr lang="en-US" altLang="zh-CN" sz="1200" dirty="0"/>
              <a:t>-</a:t>
            </a:r>
            <a:r>
              <a:rPr lang="zh-CN" altLang="en-US" sz="1200" dirty="0"/>
              <a:t>形状复杂</a:t>
            </a:r>
            <a:r>
              <a:rPr lang="en-US" altLang="zh-CN" sz="1200" dirty="0"/>
              <a:t>-</a:t>
            </a:r>
            <a:r>
              <a:rPr lang="zh-CN" altLang="en-US" sz="1200" dirty="0"/>
              <a:t>安全空间狭小的场景下模型无解。</a:t>
            </a:r>
            <a:endParaRPr lang="en-US" altLang="zh-CN" sz="1200" dirty="0"/>
          </a:p>
          <a:p>
            <a:pPr>
              <a:lnSpc>
                <a:spcPct val="150000"/>
              </a:lnSpc>
            </a:pPr>
            <a:r>
              <a:rPr lang="zh-CN" altLang="en-US" sz="1200" b="1" dirty="0"/>
              <a:t>方法：</a:t>
            </a:r>
            <a:r>
              <a:rPr lang="zh-CN" altLang="en-US" sz="1200" dirty="0"/>
              <a:t>将</a:t>
            </a:r>
            <a:r>
              <a:rPr lang="en-US" altLang="zh-CN" sz="1200" dirty="0"/>
              <a:t>CBF-QP</a:t>
            </a:r>
            <a:r>
              <a:rPr lang="zh-CN" altLang="en-US" sz="1200" dirty="0"/>
              <a:t>安全约束加入</a:t>
            </a:r>
            <a:r>
              <a:rPr lang="en-US" altLang="zh-CN" sz="1200" dirty="0"/>
              <a:t>MPC</a:t>
            </a:r>
            <a:r>
              <a:rPr lang="zh-CN" altLang="en-US" sz="1200" dirty="0"/>
              <a:t>单步约束之中，从单步预测变为多步预测；自适应化单步</a:t>
            </a:r>
            <a:r>
              <a:rPr lang="en-US" altLang="zh-CN" sz="1200" dirty="0"/>
              <a:t>CBF-QP</a:t>
            </a:r>
            <a:r>
              <a:rPr lang="zh-CN" altLang="en-US" sz="1200" dirty="0"/>
              <a:t>问题中的约束参数，并将其作为</a:t>
            </a:r>
            <a:r>
              <a:rPr lang="en-US" altLang="zh-CN" sz="1200" dirty="0"/>
              <a:t>MPC</a:t>
            </a:r>
            <a:r>
              <a:rPr lang="zh-CN" altLang="en-US" sz="1200" dirty="0"/>
              <a:t>优化目标，从而在空间狭小时采用更大的衰减值，空间充裕时采用更小的衰减值。</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400"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88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seq concurrent="1" nextAc="seek">
              <p:cTn id="12" restart="whenNotActive" fill="hold" evtFilter="cancelBubble" nodeType="interactiveSeq">
                <p:stCondLst>
                  <p:cond evt="onClick" delay="0">
                    <p:tgtEl>
                      <p:spTgt spid="2"/>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
                                        </p:tgtEl>
                                      </p:cBhvr>
                                    </p:cmd>
                                  </p:childTnLst>
                                </p:cTn>
                              </p:par>
                            </p:childTnLst>
                          </p:cTn>
                        </p:par>
                      </p:childTnLst>
                    </p:cTn>
                  </p:par>
                </p:childTnLst>
              </p:cTn>
              <p:nextCondLst>
                <p:cond evt="onClick" delay="0">
                  <p:tgtEl>
                    <p:spTgt spid="2"/>
                  </p:tgtEl>
                </p:cond>
              </p:nextCondLst>
            </p:seq>
            <p:video>
              <p:cMediaNode vol="80000">
                <p:cTn id="17" fill="hold" display="0">
                  <p:stCondLst>
                    <p:cond delay="indefinite"/>
                  </p:stCondLst>
                </p:cTn>
                <p:tgtEl>
                  <p:spTgt spid="8"/>
                </p:tgtEl>
              </p:cMediaNode>
            </p:video>
            <p:seq concurrent="1" nextAc="seek">
              <p:cTn id="18" restart="whenNotActive" fill="hold" evtFilter="cancelBubble" nodeType="interactiveSeq">
                <p:stCondLst>
                  <p:cond evt="onClick" delay="0">
                    <p:tgtEl>
                      <p:spTgt spid="8"/>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9144000" cy="508159"/>
          </a:xfrm>
          <a:prstGeom prst="rect">
            <a:avLst/>
          </a:prstGeom>
          <a:solidFill>
            <a:schemeClr val="accent1">
              <a:lumMod val="75000"/>
            </a:schemeClr>
          </a:solidFill>
          <a:ln>
            <a:noFill/>
          </a:ln>
          <a:effectLst>
            <a:softEdge rad="127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6" name="文本框 5"/>
          <p:cNvSpPr txBox="1"/>
          <p:nvPr/>
        </p:nvSpPr>
        <p:spPr>
          <a:xfrm>
            <a:off x="139065" y="46990"/>
            <a:ext cx="3871595" cy="414020"/>
          </a:xfrm>
          <a:prstGeom prst="rect">
            <a:avLst/>
          </a:prstGeom>
          <a:noFill/>
        </p:spPr>
        <p:txBody>
          <a:bodyPr wrap="square" rtlCol="0">
            <a:spAutoFit/>
          </a:bodyPr>
          <a:lstStyle/>
          <a:p>
            <a:r>
              <a:rPr lang="zh-CN" altLang="en-US" sz="2100" b="1">
                <a:solidFill>
                  <a:schemeClr val="bg1"/>
                </a:solidFill>
                <a:sym typeface="+mn-ea"/>
              </a:rPr>
              <a:t>方案构思</a:t>
            </a:r>
            <a:r>
              <a:rPr lang="en-US" altLang="zh-CN" sz="2100" b="1">
                <a:solidFill>
                  <a:schemeClr val="bg1"/>
                </a:solidFill>
              </a:rPr>
              <a:t>-</a:t>
            </a:r>
            <a:r>
              <a:rPr lang="zh-CN" altLang="en-US" b="1">
                <a:solidFill>
                  <a:schemeClr val="bg1"/>
                </a:solidFill>
              </a:rPr>
              <a:t>机械臂焊前轨迹规划</a:t>
            </a:r>
          </a:p>
        </p:txBody>
      </p:sp>
      <p:sp>
        <p:nvSpPr>
          <p:cNvPr id="4" name="文本框 3"/>
          <p:cNvSpPr txBox="1"/>
          <p:nvPr/>
        </p:nvSpPr>
        <p:spPr>
          <a:xfrm>
            <a:off x="78740" y="550545"/>
            <a:ext cx="5038725" cy="398780"/>
          </a:xfrm>
          <a:prstGeom prst="rect">
            <a:avLst/>
          </a:prstGeom>
          <a:noFill/>
        </p:spPr>
        <p:txBody>
          <a:bodyPr wrap="square" rtlCol="0">
            <a:spAutoFit/>
          </a:bodyPr>
          <a:lstStyle/>
          <a:p>
            <a:pPr marL="285750" indent="-285750">
              <a:buFont typeface="Wingdings" panose="05000000000000000000" charset="0"/>
              <a:buChar char="Ø"/>
            </a:pPr>
            <a:r>
              <a:rPr lang="zh-CN" altLang="en-US" sz="2000" b="1"/>
              <a:t>基于</a:t>
            </a:r>
            <a:r>
              <a:rPr lang="en-US" altLang="zh-CN" sz="2000" b="1"/>
              <a:t>Deep Reinforce Learning</a:t>
            </a:r>
            <a:r>
              <a:rPr lang="zh-CN" altLang="en-US" sz="2000" b="1"/>
              <a:t>的算法</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4.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5.xml><?xml version="1.0" encoding="utf-8"?>
<p:tagLst xmlns:a="http://schemas.openxmlformats.org/drawingml/2006/main" xmlns:r="http://schemas.openxmlformats.org/officeDocument/2006/relationships" xmlns:p="http://schemas.openxmlformats.org/presentationml/2006/main">
  <p:tag name="TABLE_ENDDRAG_ORIGIN_RECT" val="609*401"/>
  <p:tag name="TABLE_ENDDRAG_RECT" val="39*116*609*401"/>
</p:tagLst>
</file>

<file path=ppt/tags/tag66.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8.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9.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0.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1.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2.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1495</Words>
  <Application>Microsoft Office PowerPoint</Application>
  <PresentationFormat>全屏显示(4:3)</PresentationFormat>
  <Paragraphs>127</Paragraphs>
  <Slides>9</Slides>
  <Notes>0</Notes>
  <HiddenSlides>0</HiddenSlides>
  <MMClips>3</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2</vt:i4>
      </vt:variant>
      <vt:variant>
        <vt:lpstr>幻灯片标题</vt:lpstr>
      </vt:variant>
      <vt:variant>
        <vt:i4>9</vt:i4>
      </vt:variant>
    </vt:vector>
  </HeadingPairs>
  <TitlesOfParts>
    <vt:vector size="17" baseType="lpstr">
      <vt:lpstr>CircularXXWeb</vt:lpstr>
      <vt:lpstr>微软雅黑</vt:lpstr>
      <vt:lpstr>Arial</vt:lpstr>
      <vt:lpstr>Cambria Math</vt:lpstr>
      <vt:lpstr>Wingdings</vt:lpstr>
      <vt:lpstr>WPS</vt:lpstr>
      <vt:lpstr>WPS 公式 3.0</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涵 何</cp:lastModifiedBy>
  <cp:revision>180</cp:revision>
  <dcterms:created xsi:type="dcterms:W3CDTF">2019-06-19T02:08:00Z</dcterms:created>
  <dcterms:modified xsi:type="dcterms:W3CDTF">2026-03-12T06:56:21Z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3EC018EDDF274D049308D7FBB8E55E70_11</vt:lpwstr>
  </property>
</Properties>
</file>